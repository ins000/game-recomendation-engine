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8" r:id="rId9"/>
    <p:sldId id="263" r:id="rId10"/>
    <p:sldId id="267" r:id="rId11"/>
    <p:sldId id="264" r:id="rId12"/>
    <p:sldId id="266"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32C28-C458-49B7-BC06-A0F30DEB0519}" v="1898" dt="2025-01-28T00:47:24.325"/>
    <p1510:client id="{079981F8-81FB-2578-1B86-544DF2C3D265}" v="17" dt="2025-01-27T22:44:57.136"/>
    <p1510:client id="{283940F3-A95B-4F53-9E79-E25B6B6DF05B}" v="17" dt="2025-01-27T19:06:52.641"/>
    <p1510:client id="{6CE5DBD7-064A-56D4-5D44-2F2689A2030F}" v="224" dt="2025-01-27T22:29:57.675"/>
    <p1510:client id="{92CDDEE4-EDC3-92C6-4054-E5A21A656A15}" v="30" dt="2025-01-27T19:10:20.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120" y="25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297551b3b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297551b3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297551b3b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297551b3b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297551b3b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297551b3b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297551b3b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297551b3b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97551b3b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297551b3bf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pl"/>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pl"/>
              <a:t>Game Recommendations System</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pl"/>
              <a:t>Mikołaj Drozd, Maksymilian Kochan, Mikołaj Komarnicki</a:t>
            </a:r>
            <a:endParaRPr/>
          </a:p>
          <a:p>
            <a:pPr marL="0" lvl="0" indent="0" algn="ctr" rtl="0">
              <a:spcBef>
                <a:spcPts val="0"/>
              </a:spcBef>
              <a:spcAft>
                <a:spcPts val="0"/>
              </a:spcAft>
              <a:buNone/>
            </a:pPr>
            <a:r>
              <a:rPr lang="pl"/>
              <a:t>Supervisor: Marek Adamczyk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a:t>Project inspiration</a:t>
            </a:r>
            <a:endParaRPr/>
          </a:p>
        </p:txBody>
      </p:sp>
      <p:sp>
        <p:nvSpPr>
          <p:cNvPr id="61" name="Google Shape;61;p14"/>
          <p:cNvSpPr txBox="1">
            <a:spLocks noGrp="1"/>
          </p:cNvSpPr>
          <p:nvPr>
            <p:ph type="body" idx="1"/>
          </p:nvPr>
        </p:nvSpPr>
        <p:spPr>
          <a:xfrm>
            <a:off x="311700" y="1152475"/>
            <a:ext cx="8520600" cy="204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PL" err="1">
                <a:solidFill>
                  <a:schemeClr val="tx1"/>
                </a:solidFill>
              </a:rPr>
              <a:t>Previously</a:t>
            </a:r>
            <a:r>
              <a:rPr lang="pl-PL">
                <a:solidFill>
                  <a:schemeClr val="tx1"/>
                </a:solidFill>
              </a:rPr>
              <a:t> we </a:t>
            </a:r>
            <a:r>
              <a:rPr lang="pl-PL" err="1">
                <a:solidFill>
                  <a:schemeClr val="tx1"/>
                </a:solidFill>
              </a:rPr>
              <a:t>wanted</a:t>
            </a:r>
            <a:r>
              <a:rPr lang="pl-PL">
                <a:solidFill>
                  <a:schemeClr val="tx1"/>
                </a:solidFill>
              </a:rPr>
              <a:t> to </a:t>
            </a:r>
            <a:r>
              <a:rPr lang="pl-PL" err="1">
                <a:solidFill>
                  <a:schemeClr val="tx1"/>
                </a:solidFill>
              </a:rPr>
              <a:t>build</a:t>
            </a:r>
            <a:r>
              <a:rPr lang="pl-PL">
                <a:solidFill>
                  <a:schemeClr val="tx1"/>
                </a:solidFill>
              </a:rPr>
              <a:t> </a:t>
            </a:r>
            <a:r>
              <a:rPr lang="pl-PL" err="1">
                <a:solidFill>
                  <a:schemeClr val="tx1"/>
                </a:solidFill>
              </a:rPr>
              <a:t>multiple</a:t>
            </a:r>
            <a:r>
              <a:rPr lang="pl-PL">
                <a:solidFill>
                  <a:schemeClr val="tx1"/>
                </a:solidFill>
              </a:rPr>
              <a:t> </a:t>
            </a:r>
            <a:r>
              <a:rPr lang="pl-PL" err="1">
                <a:solidFill>
                  <a:schemeClr val="tx1"/>
                </a:solidFill>
              </a:rPr>
              <a:t>different</a:t>
            </a:r>
            <a:r>
              <a:rPr lang="pl-PL">
                <a:solidFill>
                  <a:schemeClr val="tx1"/>
                </a:solidFill>
              </a:rPr>
              <a:t> </a:t>
            </a:r>
            <a:r>
              <a:rPr lang="pl-PL" err="1">
                <a:solidFill>
                  <a:schemeClr val="tx1"/>
                </a:solidFill>
              </a:rPr>
              <a:t>models</a:t>
            </a:r>
            <a:r>
              <a:rPr lang="pl-PL">
                <a:solidFill>
                  <a:schemeClr val="tx1"/>
                </a:solidFill>
              </a:rPr>
              <a:t> </a:t>
            </a:r>
            <a:r>
              <a:rPr lang="pl-PL" err="1">
                <a:solidFill>
                  <a:schemeClr val="tx1"/>
                </a:solidFill>
              </a:rPr>
              <a:t>based</a:t>
            </a:r>
            <a:r>
              <a:rPr lang="pl-PL">
                <a:solidFill>
                  <a:schemeClr val="tx1"/>
                </a:solidFill>
              </a:rPr>
              <a:t> on </a:t>
            </a:r>
            <a:r>
              <a:rPr lang="pl-PL" err="1">
                <a:solidFill>
                  <a:schemeClr val="tx1"/>
                </a:solidFill>
              </a:rPr>
              <a:t>various</a:t>
            </a:r>
            <a:r>
              <a:rPr lang="pl-PL">
                <a:solidFill>
                  <a:schemeClr val="tx1"/>
                </a:solidFill>
              </a:rPr>
              <a:t> </a:t>
            </a:r>
            <a:r>
              <a:rPr lang="pl-PL" err="1">
                <a:solidFill>
                  <a:schemeClr val="tx1"/>
                </a:solidFill>
              </a:rPr>
              <a:t>methods</a:t>
            </a:r>
            <a:r>
              <a:rPr lang="pl-PL">
                <a:solidFill>
                  <a:schemeClr val="tx1"/>
                </a:solidFill>
              </a:rPr>
              <a:t> </a:t>
            </a:r>
            <a:r>
              <a:rPr lang="pl-PL" err="1">
                <a:solidFill>
                  <a:schemeClr val="tx1"/>
                </a:solidFill>
              </a:rPr>
              <a:t>which</a:t>
            </a:r>
            <a:r>
              <a:rPr lang="pl-PL">
                <a:solidFill>
                  <a:schemeClr val="tx1"/>
                </a:solidFill>
              </a:rPr>
              <a:t> </a:t>
            </a:r>
            <a:r>
              <a:rPr lang="pl-PL" err="1">
                <a:solidFill>
                  <a:schemeClr val="tx1"/>
                </a:solidFill>
              </a:rPr>
              <a:t>could</a:t>
            </a:r>
            <a:r>
              <a:rPr lang="pl-PL">
                <a:solidFill>
                  <a:schemeClr val="tx1"/>
                </a:solidFill>
              </a:rPr>
              <a:t> be </a:t>
            </a:r>
            <a:r>
              <a:rPr lang="pl-PL" err="1">
                <a:solidFill>
                  <a:schemeClr val="tx1"/>
                </a:solidFill>
              </a:rPr>
              <a:t>later</a:t>
            </a:r>
            <a:r>
              <a:rPr lang="pl-PL">
                <a:solidFill>
                  <a:schemeClr val="tx1"/>
                </a:solidFill>
              </a:rPr>
              <a:t> </a:t>
            </a:r>
            <a:r>
              <a:rPr lang="pl-PL" err="1">
                <a:solidFill>
                  <a:schemeClr val="tx1"/>
                </a:solidFill>
              </a:rPr>
              <a:t>compared</a:t>
            </a:r>
            <a:r>
              <a:rPr lang="pl-PL">
                <a:solidFill>
                  <a:schemeClr val="tx1"/>
                </a:solidFill>
              </a:rPr>
              <a:t> and </a:t>
            </a:r>
            <a:r>
              <a:rPr lang="pl-PL" err="1">
                <a:solidFill>
                  <a:schemeClr val="tx1"/>
                </a:solidFill>
              </a:rPr>
              <a:t>maybe</a:t>
            </a:r>
            <a:r>
              <a:rPr lang="pl-PL">
                <a:solidFill>
                  <a:schemeClr val="tx1"/>
                </a:solidFill>
              </a:rPr>
              <a:t> </a:t>
            </a:r>
            <a:r>
              <a:rPr lang="pl-PL" err="1">
                <a:solidFill>
                  <a:schemeClr val="tx1"/>
                </a:solidFill>
              </a:rPr>
              <a:t>joined</a:t>
            </a:r>
            <a:r>
              <a:rPr lang="pl-PL">
                <a:solidFill>
                  <a:schemeClr val="tx1"/>
                </a:solidFill>
              </a:rPr>
              <a:t> </a:t>
            </a:r>
            <a:r>
              <a:rPr lang="pl-PL" err="1">
                <a:solidFill>
                  <a:schemeClr val="tx1"/>
                </a:solidFill>
              </a:rPr>
              <a:t>into</a:t>
            </a:r>
            <a:r>
              <a:rPr lang="pl-PL">
                <a:solidFill>
                  <a:schemeClr val="tx1"/>
                </a:solidFill>
              </a:rPr>
              <a:t> </a:t>
            </a:r>
            <a:r>
              <a:rPr lang="pl-PL" err="1">
                <a:solidFill>
                  <a:schemeClr val="tx1"/>
                </a:solidFill>
              </a:rPr>
              <a:t>more</a:t>
            </a:r>
            <a:r>
              <a:rPr lang="pl-PL">
                <a:solidFill>
                  <a:schemeClr val="tx1"/>
                </a:solidFill>
              </a:rPr>
              <a:t> </a:t>
            </a:r>
            <a:r>
              <a:rPr lang="pl-PL" err="1">
                <a:solidFill>
                  <a:schemeClr val="tx1"/>
                </a:solidFill>
              </a:rPr>
              <a:t>efficient</a:t>
            </a:r>
            <a:r>
              <a:rPr lang="pl-PL">
                <a:solidFill>
                  <a:schemeClr val="tx1"/>
                </a:solidFill>
              </a:rPr>
              <a:t> </a:t>
            </a:r>
            <a:r>
              <a:rPr lang="pl-PL" err="1">
                <a:solidFill>
                  <a:schemeClr val="tx1"/>
                </a:solidFill>
              </a:rPr>
              <a:t>advanced</a:t>
            </a:r>
            <a:r>
              <a:rPr lang="pl-PL">
                <a:solidFill>
                  <a:schemeClr val="tx1"/>
                </a:solidFill>
              </a:rPr>
              <a:t> </a:t>
            </a:r>
            <a:r>
              <a:rPr lang="pl-PL" err="1">
                <a:solidFill>
                  <a:schemeClr val="tx1"/>
                </a:solidFill>
              </a:rPr>
              <a:t>hybrid</a:t>
            </a:r>
            <a:r>
              <a:rPr lang="pl-PL">
                <a:solidFill>
                  <a:schemeClr val="tx1"/>
                </a:solidFill>
              </a:rPr>
              <a:t> model.</a:t>
            </a:r>
          </a:p>
          <a:p>
            <a:pPr marL="0" indent="0">
              <a:spcBef>
                <a:spcPts val="1200"/>
              </a:spcBef>
              <a:buNone/>
            </a:pPr>
            <a:r>
              <a:rPr lang="pl-PL" err="1">
                <a:solidFill>
                  <a:schemeClr val="tx1"/>
                </a:solidFill>
              </a:rPr>
              <a:t>However</a:t>
            </a:r>
            <a:r>
              <a:rPr lang="pl-PL">
                <a:solidFill>
                  <a:schemeClr val="tx1"/>
                </a:solidFill>
              </a:rPr>
              <a:t>, we </a:t>
            </a:r>
            <a:r>
              <a:rPr lang="pl-PL" err="1">
                <a:solidFill>
                  <a:schemeClr val="tx1"/>
                </a:solidFill>
              </a:rPr>
              <a:t>changed</a:t>
            </a:r>
            <a:r>
              <a:rPr lang="pl-PL">
                <a:solidFill>
                  <a:schemeClr val="tx1"/>
                </a:solidFill>
              </a:rPr>
              <a:t> </a:t>
            </a:r>
            <a:r>
              <a:rPr lang="pl-PL" err="1">
                <a:solidFill>
                  <a:schemeClr val="tx1"/>
                </a:solidFill>
              </a:rPr>
              <a:t>our</a:t>
            </a:r>
            <a:r>
              <a:rPr lang="pl-PL">
                <a:solidFill>
                  <a:schemeClr val="tx1"/>
                </a:solidFill>
              </a:rPr>
              <a:t> </a:t>
            </a:r>
            <a:r>
              <a:rPr lang="pl-PL" err="1">
                <a:solidFill>
                  <a:schemeClr val="tx1"/>
                </a:solidFill>
              </a:rPr>
              <a:t>directions</a:t>
            </a:r>
            <a:r>
              <a:rPr lang="pl-PL">
                <a:solidFill>
                  <a:schemeClr val="tx1"/>
                </a:solidFill>
              </a:rPr>
              <a:t> </a:t>
            </a:r>
            <a:r>
              <a:rPr lang="pl-PL" err="1">
                <a:solidFill>
                  <a:schemeClr val="tx1"/>
                </a:solidFill>
              </a:rPr>
              <a:t>into</a:t>
            </a:r>
            <a:r>
              <a:rPr lang="pl-PL">
                <a:solidFill>
                  <a:schemeClr val="tx1"/>
                </a:solidFill>
              </a:rPr>
              <a:t> </a:t>
            </a:r>
            <a:r>
              <a:rPr lang="pl-PL" err="1">
                <a:solidFill>
                  <a:schemeClr val="tx1"/>
                </a:solidFill>
              </a:rPr>
              <a:t>building</a:t>
            </a:r>
            <a:r>
              <a:rPr lang="pl-PL">
                <a:solidFill>
                  <a:schemeClr val="tx1"/>
                </a:solidFill>
              </a:rPr>
              <a:t> </a:t>
            </a:r>
            <a:r>
              <a:rPr lang="pl-PL" err="1">
                <a:solidFill>
                  <a:schemeClr val="tx1"/>
                </a:solidFill>
              </a:rPr>
              <a:t>more</a:t>
            </a:r>
            <a:r>
              <a:rPr lang="pl-PL">
                <a:solidFill>
                  <a:schemeClr val="tx1"/>
                </a:solidFill>
              </a:rPr>
              <a:t> </a:t>
            </a:r>
            <a:r>
              <a:rPr lang="pl-PL" err="1">
                <a:solidFill>
                  <a:schemeClr val="tx1"/>
                </a:solidFill>
              </a:rPr>
              <a:t>interesting</a:t>
            </a:r>
            <a:r>
              <a:rPr lang="pl-PL">
                <a:solidFill>
                  <a:schemeClr val="tx1"/>
                </a:solidFill>
              </a:rPr>
              <a:t> model </a:t>
            </a:r>
            <a:r>
              <a:rPr lang="pl-PL" err="1">
                <a:solidFill>
                  <a:schemeClr val="tx1"/>
                </a:solidFill>
              </a:rPr>
              <a:t>based</a:t>
            </a:r>
            <a:r>
              <a:rPr lang="pl-PL">
                <a:solidFill>
                  <a:schemeClr val="tx1"/>
                </a:solidFill>
              </a:rPr>
              <a:t> </a:t>
            </a:r>
            <a:r>
              <a:rPr lang="pl-PL" err="1">
                <a:solidFill>
                  <a:schemeClr val="tx1"/>
                </a:solidFill>
              </a:rPr>
              <a:t>around</a:t>
            </a:r>
            <a:r>
              <a:rPr lang="pl-PL">
                <a:solidFill>
                  <a:schemeClr val="tx1"/>
                </a:solidFill>
              </a:rPr>
              <a:t> </a:t>
            </a:r>
            <a:r>
              <a:rPr lang="pl-PL" err="1">
                <a:solidFill>
                  <a:schemeClr val="tx1"/>
                </a:solidFill>
              </a:rPr>
              <a:t>graph</a:t>
            </a:r>
            <a:r>
              <a:rPr lang="pl-PL">
                <a:solidFill>
                  <a:schemeClr val="tx1"/>
                </a:solidFill>
              </a:rPr>
              <a:t> </a:t>
            </a:r>
            <a:r>
              <a:rPr lang="pl-PL" err="1">
                <a:solidFill>
                  <a:schemeClr val="tx1"/>
                </a:solidFill>
              </a:rPr>
              <a:t>embeddings</a:t>
            </a:r>
            <a:r>
              <a:rPr lang="pl-PL">
                <a:solidFill>
                  <a:schemeClr val="tx1"/>
                </a:solidFill>
              </a:rPr>
              <a:t> with </a:t>
            </a:r>
            <a:r>
              <a:rPr lang="pl-PL" err="1">
                <a:solidFill>
                  <a:schemeClr val="tx1"/>
                </a:solidFill>
              </a:rPr>
              <a:t>Cleora</a:t>
            </a:r>
            <a:r>
              <a:rPr lang="pl-PL">
                <a:solidFill>
                  <a:schemeClr val="tx1"/>
                </a:solidFill>
              </a:rPr>
              <a:t>.</a:t>
            </a:r>
          </a:p>
          <a:p>
            <a:pPr marL="0" lvl="0" indent="0" algn="l" rtl="0">
              <a:spcBef>
                <a:spcPts val="1200"/>
              </a:spcBef>
              <a:spcAft>
                <a:spcPts val="1200"/>
              </a:spcAft>
              <a:buNone/>
            </a:pPr>
            <a:endParaRPr lang="pl-PL">
              <a:solidFill>
                <a:schemeClr val="tx1"/>
              </a:solidFill>
            </a:endParaRPr>
          </a:p>
        </p:txBody>
      </p:sp>
      <p:pic>
        <p:nvPicPr>
          <p:cNvPr id="62" name="Google Shape;62;p14"/>
          <p:cNvPicPr preferRelativeResize="0"/>
          <p:nvPr/>
        </p:nvPicPr>
        <p:blipFill>
          <a:blip r:embed="rId3">
            <a:alphaModFix/>
          </a:blip>
          <a:stretch>
            <a:fillRect/>
          </a:stretch>
        </p:blipFill>
        <p:spPr>
          <a:xfrm>
            <a:off x="1813975" y="2957550"/>
            <a:ext cx="5516061" cy="1645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a:t>Data and preprocessing</a:t>
            </a:r>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PL" err="1">
                <a:solidFill>
                  <a:schemeClr val="tx1"/>
                </a:solidFill>
              </a:rPr>
              <a:t>Firstly</a:t>
            </a:r>
            <a:r>
              <a:rPr lang="pl-PL">
                <a:solidFill>
                  <a:schemeClr val="tx1"/>
                </a:solidFill>
              </a:rPr>
              <a:t> we </a:t>
            </a:r>
            <a:r>
              <a:rPr lang="pl-PL" err="1">
                <a:solidFill>
                  <a:schemeClr val="tx1"/>
                </a:solidFill>
              </a:rPr>
              <a:t>thought</a:t>
            </a:r>
            <a:r>
              <a:rPr lang="pl-PL">
                <a:solidFill>
                  <a:schemeClr val="tx1"/>
                </a:solidFill>
              </a:rPr>
              <a:t> of </a:t>
            </a:r>
            <a:r>
              <a:rPr lang="pl-PL" err="1">
                <a:solidFill>
                  <a:schemeClr val="tx1"/>
                </a:solidFill>
              </a:rPr>
              <a:t>using</a:t>
            </a:r>
            <a:r>
              <a:rPr lang="pl-PL">
                <a:solidFill>
                  <a:schemeClr val="tx1"/>
                </a:solidFill>
              </a:rPr>
              <a:t> </a:t>
            </a:r>
            <a:r>
              <a:rPr lang="pl-PL" err="1">
                <a:solidFill>
                  <a:schemeClr val="tx1"/>
                </a:solidFill>
              </a:rPr>
              <a:t>multiple</a:t>
            </a:r>
            <a:r>
              <a:rPr lang="pl-PL">
                <a:solidFill>
                  <a:schemeClr val="tx1"/>
                </a:solidFill>
              </a:rPr>
              <a:t> </a:t>
            </a:r>
            <a:r>
              <a:rPr lang="pl-PL" err="1">
                <a:solidFill>
                  <a:schemeClr val="tx1"/>
                </a:solidFill>
              </a:rPr>
              <a:t>game</a:t>
            </a:r>
            <a:r>
              <a:rPr lang="pl-PL">
                <a:solidFill>
                  <a:schemeClr val="tx1"/>
                </a:solidFill>
              </a:rPr>
              <a:t>, </a:t>
            </a:r>
            <a:r>
              <a:rPr lang="pl-PL" err="1">
                <a:solidFill>
                  <a:schemeClr val="tx1"/>
                </a:solidFill>
              </a:rPr>
              <a:t>user</a:t>
            </a:r>
            <a:r>
              <a:rPr lang="pl-PL">
                <a:solidFill>
                  <a:schemeClr val="tx1"/>
                </a:solidFill>
              </a:rPr>
              <a:t> and </a:t>
            </a:r>
            <a:r>
              <a:rPr lang="pl-PL" err="1">
                <a:solidFill>
                  <a:schemeClr val="tx1"/>
                </a:solidFill>
              </a:rPr>
              <a:t>recommendation</a:t>
            </a:r>
            <a:r>
              <a:rPr lang="pl-PL">
                <a:solidFill>
                  <a:schemeClr val="tx1"/>
                </a:solidFill>
              </a:rPr>
              <a:t> </a:t>
            </a:r>
            <a:r>
              <a:rPr lang="pl-PL" err="1">
                <a:solidFill>
                  <a:schemeClr val="tx1"/>
                </a:solidFill>
              </a:rPr>
              <a:t>attributes</a:t>
            </a:r>
            <a:r>
              <a:rPr lang="pl-PL">
                <a:solidFill>
                  <a:schemeClr val="tx1"/>
                </a:solidFill>
              </a:rPr>
              <a:t> </a:t>
            </a:r>
            <a:r>
              <a:rPr lang="pl-PL" err="1">
                <a:solidFill>
                  <a:schemeClr val="tx1"/>
                </a:solidFill>
              </a:rPr>
              <a:t>such</a:t>
            </a:r>
            <a:r>
              <a:rPr lang="pl-PL">
                <a:solidFill>
                  <a:schemeClr val="tx1"/>
                </a:solidFill>
              </a:rPr>
              <a:t> as </a:t>
            </a:r>
            <a:r>
              <a:rPr lang="pl-PL" err="1">
                <a:solidFill>
                  <a:schemeClr val="tx1"/>
                </a:solidFill>
              </a:rPr>
              <a:t>game</a:t>
            </a:r>
            <a:r>
              <a:rPr lang="pl-PL">
                <a:solidFill>
                  <a:schemeClr val="tx1"/>
                </a:solidFill>
              </a:rPr>
              <a:t> genre, </a:t>
            </a:r>
            <a:r>
              <a:rPr lang="pl-PL" err="1">
                <a:solidFill>
                  <a:schemeClr val="tx1"/>
                </a:solidFill>
              </a:rPr>
              <a:t>game</a:t>
            </a:r>
            <a:r>
              <a:rPr lang="pl-PL">
                <a:solidFill>
                  <a:schemeClr val="tx1"/>
                </a:solidFill>
              </a:rPr>
              <a:t> rating </a:t>
            </a:r>
            <a:r>
              <a:rPr lang="pl-PL" err="1">
                <a:solidFill>
                  <a:schemeClr val="tx1"/>
                </a:solidFill>
              </a:rPr>
              <a:t>or</a:t>
            </a:r>
            <a:r>
              <a:rPr lang="pl-PL">
                <a:solidFill>
                  <a:schemeClr val="tx1"/>
                </a:solidFill>
              </a:rPr>
              <a:t> </a:t>
            </a:r>
            <a:r>
              <a:rPr lang="pl-PL" err="1">
                <a:solidFill>
                  <a:schemeClr val="tx1"/>
                </a:solidFill>
              </a:rPr>
              <a:t>hours</a:t>
            </a:r>
            <a:r>
              <a:rPr lang="pl-PL">
                <a:solidFill>
                  <a:schemeClr val="tx1"/>
                </a:solidFill>
              </a:rPr>
              <a:t> in </a:t>
            </a:r>
            <a:r>
              <a:rPr lang="pl-PL" err="1">
                <a:solidFill>
                  <a:schemeClr val="tx1"/>
                </a:solidFill>
              </a:rPr>
              <a:t>game</a:t>
            </a:r>
            <a:r>
              <a:rPr lang="pl-PL">
                <a:solidFill>
                  <a:schemeClr val="tx1"/>
                </a:solidFill>
              </a:rPr>
              <a:t> in moment of </a:t>
            </a:r>
            <a:r>
              <a:rPr lang="pl-PL" err="1">
                <a:solidFill>
                  <a:schemeClr val="tx1"/>
                </a:solidFill>
              </a:rPr>
              <a:t>posting</a:t>
            </a:r>
            <a:r>
              <a:rPr lang="pl-PL">
                <a:solidFill>
                  <a:schemeClr val="tx1"/>
                </a:solidFill>
              </a:rPr>
              <a:t> </a:t>
            </a:r>
            <a:r>
              <a:rPr lang="pl-PL" err="1">
                <a:solidFill>
                  <a:schemeClr val="tx1"/>
                </a:solidFill>
              </a:rPr>
              <a:t>opinion</a:t>
            </a:r>
            <a:r>
              <a:rPr lang="pl-PL">
                <a:solidFill>
                  <a:schemeClr val="tx1"/>
                </a:solidFill>
              </a:rPr>
              <a:t>.</a:t>
            </a:r>
          </a:p>
          <a:p>
            <a:pPr marL="0" lvl="0" indent="0" algn="l" rtl="0">
              <a:spcBef>
                <a:spcPts val="1200"/>
              </a:spcBef>
              <a:spcAft>
                <a:spcPts val="0"/>
              </a:spcAft>
              <a:buNone/>
            </a:pPr>
            <a:r>
              <a:rPr lang="pl-PL" err="1">
                <a:solidFill>
                  <a:schemeClr val="tx1"/>
                </a:solidFill>
              </a:rPr>
              <a:t>Later</a:t>
            </a:r>
            <a:r>
              <a:rPr lang="pl-PL">
                <a:solidFill>
                  <a:schemeClr val="tx1"/>
                </a:solidFill>
              </a:rPr>
              <a:t> we </a:t>
            </a:r>
            <a:r>
              <a:rPr lang="pl-PL" err="1">
                <a:solidFill>
                  <a:schemeClr val="tx1"/>
                </a:solidFill>
              </a:rPr>
              <a:t>decided</a:t>
            </a:r>
            <a:r>
              <a:rPr lang="pl-PL">
                <a:solidFill>
                  <a:schemeClr val="tx1"/>
                </a:solidFill>
              </a:rPr>
              <a:t> to </a:t>
            </a:r>
            <a:r>
              <a:rPr lang="pl-PL" err="1">
                <a:solidFill>
                  <a:schemeClr val="tx1"/>
                </a:solidFill>
              </a:rPr>
              <a:t>ignore</a:t>
            </a:r>
            <a:r>
              <a:rPr lang="pl-PL">
                <a:solidFill>
                  <a:schemeClr val="tx1"/>
                </a:solidFill>
              </a:rPr>
              <a:t> </a:t>
            </a:r>
            <a:r>
              <a:rPr lang="pl-PL" err="1">
                <a:solidFill>
                  <a:schemeClr val="tx1"/>
                </a:solidFill>
              </a:rPr>
              <a:t>those</a:t>
            </a:r>
            <a:r>
              <a:rPr lang="pl-PL">
                <a:solidFill>
                  <a:schemeClr val="tx1"/>
                </a:solidFill>
              </a:rPr>
              <a:t> </a:t>
            </a:r>
            <a:r>
              <a:rPr lang="pl-PL" err="1">
                <a:solidFill>
                  <a:schemeClr val="tx1"/>
                </a:solidFill>
              </a:rPr>
              <a:t>properties</a:t>
            </a:r>
            <a:r>
              <a:rPr lang="pl-PL">
                <a:solidFill>
                  <a:schemeClr val="tx1"/>
                </a:solidFill>
              </a:rPr>
              <a:t> and </a:t>
            </a:r>
            <a:r>
              <a:rPr lang="pl-PL" err="1">
                <a:solidFill>
                  <a:schemeClr val="tx1"/>
                </a:solidFill>
              </a:rPr>
              <a:t>focus</a:t>
            </a:r>
            <a:r>
              <a:rPr lang="pl-PL">
                <a:solidFill>
                  <a:schemeClr val="tx1"/>
                </a:solidFill>
              </a:rPr>
              <a:t> on </a:t>
            </a:r>
            <a:r>
              <a:rPr lang="pl-PL" err="1">
                <a:solidFill>
                  <a:schemeClr val="tx1"/>
                </a:solidFill>
              </a:rPr>
              <a:t>graph</a:t>
            </a:r>
            <a:r>
              <a:rPr lang="pl-PL">
                <a:solidFill>
                  <a:schemeClr val="tx1"/>
                </a:solidFill>
              </a:rPr>
              <a:t> </a:t>
            </a:r>
            <a:r>
              <a:rPr lang="pl-PL" err="1">
                <a:solidFill>
                  <a:schemeClr val="tx1"/>
                </a:solidFill>
              </a:rPr>
              <a:t>representation</a:t>
            </a:r>
            <a:r>
              <a:rPr lang="pl-PL">
                <a:solidFill>
                  <a:schemeClr val="tx1"/>
                </a:solidFill>
              </a:rPr>
              <a:t> of </a:t>
            </a:r>
            <a:r>
              <a:rPr lang="pl-PL" err="1">
                <a:solidFill>
                  <a:schemeClr val="tx1"/>
                </a:solidFill>
              </a:rPr>
              <a:t>games</a:t>
            </a:r>
            <a:r>
              <a:rPr lang="pl-PL">
                <a:solidFill>
                  <a:schemeClr val="tx1"/>
                </a:solidFill>
              </a:rPr>
              <a:t> and </a:t>
            </a:r>
            <a:r>
              <a:rPr lang="pl-PL" err="1">
                <a:solidFill>
                  <a:schemeClr val="tx1"/>
                </a:solidFill>
              </a:rPr>
              <a:t>users</a:t>
            </a:r>
            <a:r>
              <a:rPr lang="pl-PL">
                <a:solidFill>
                  <a:schemeClr val="tx1"/>
                </a:solidFill>
              </a:rPr>
              <a:t> relations </a:t>
            </a:r>
            <a:r>
              <a:rPr lang="pl-PL" err="1">
                <a:solidFill>
                  <a:schemeClr val="tx1"/>
                </a:solidFill>
              </a:rPr>
              <a:t>alone</a:t>
            </a:r>
            <a:r>
              <a:rPr lang="pl-PL">
                <a:solidFill>
                  <a:schemeClr val="tx1"/>
                </a:solidFill>
              </a:rPr>
              <a:t> (</a:t>
            </a:r>
            <a:r>
              <a:rPr lang="pl-PL" err="1">
                <a:solidFill>
                  <a:schemeClr val="tx1"/>
                </a:solidFill>
              </a:rPr>
              <a:t>recommendations</a:t>
            </a:r>
            <a:r>
              <a:rPr lang="pl-PL">
                <a:solidFill>
                  <a:schemeClr val="tx1"/>
                </a:solidFill>
              </a:rPr>
              <a:t>).</a:t>
            </a:r>
          </a:p>
          <a:p>
            <a:pPr marL="0" indent="0">
              <a:spcBef>
                <a:spcPts val="1200"/>
              </a:spcBef>
              <a:buNone/>
            </a:pPr>
            <a:r>
              <a:rPr lang="pl-PL">
                <a:solidFill>
                  <a:schemeClr val="tx1"/>
                </a:solidFill>
              </a:rPr>
              <a:t>A </a:t>
            </a:r>
            <a:r>
              <a:rPr lang="pl-PL" err="1">
                <a:solidFill>
                  <a:schemeClr val="tx1"/>
                </a:solidFill>
              </a:rPr>
              <a:t>few</a:t>
            </a:r>
            <a:r>
              <a:rPr lang="pl-PL">
                <a:solidFill>
                  <a:schemeClr val="tx1"/>
                </a:solidFill>
              </a:rPr>
              <a:t> data </a:t>
            </a:r>
            <a:r>
              <a:rPr lang="pl-PL" err="1">
                <a:solidFill>
                  <a:schemeClr val="tx1"/>
                </a:solidFill>
              </a:rPr>
              <a:t>improvements</a:t>
            </a:r>
            <a:r>
              <a:rPr lang="pl-PL">
                <a:solidFill>
                  <a:schemeClr val="tx1"/>
                </a:solidFill>
              </a:rPr>
              <a:t> </a:t>
            </a:r>
            <a:r>
              <a:rPr lang="pl-PL" err="1">
                <a:solidFill>
                  <a:schemeClr val="tx1"/>
                </a:solidFill>
              </a:rPr>
              <a:t>have</a:t>
            </a:r>
            <a:r>
              <a:rPr lang="pl-PL">
                <a:solidFill>
                  <a:schemeClr val="tx1"/>
                </a:solidFill>
              </a:rPr>
              <a:t> </a:t>
            </a:r>
            <a:r>
              <a:rPr lang="pl-PL" err="1">
                <a:solidFill>
                  <a:schemeClr val="tx1"/>
                </a:solidFill>
              </a:rPr>
              <a:t>been</a:t>
            </a:r>
            <a:r>
              <a:rPr lang="pl-PL">
                <a:solidFill>
                  <a:schemeClr val="tx1"/>
                </a:solidFill>
              </a:rPr>
              <a:t> </a:t>
            </a:r>
            <a:r>
              <a:rPr lang="pl-PL" err="1">
                <a:solidFill>
                  <a:schemeClr val="tx1"/>
                </a:solidFill>
              </a:rPr>
              <a:t>introduced</a:t>
            </a:r>
            <a:r>
              <a:rPr lang="pl-PL">
                <a:solidFill>
                  <a:schemeClr val="tx1"/>
                </a:solidFill>
              </a:rPr>
              <a:t> to the </a:t>
            </a:r>
            <a:r>
              <a:rPr lang="pl-PL" err="1">
                <a:solidFill>
                  <a:schemeClr val="tx1"/>
                </a:solidFill>
              </a:rPr>
              <a:t>graph</a:t>
            </a:r>
            <a:r>
              <a:rPr lang="pl-PL">
                <a:solidFill>
                  <a:schemeClr val="tx1"/>
                </a:solidFill>
              </a:rPr>
              <a:t> </a:t>
            </a:r>
            <a:r>
              <a:rPr lang="pl-PL" err="1">
                <a:solidFill>
                  <a:schemeClr val="tx1"/>
                </a:solidFill>
              </a:rPr>
              <a:t>such</a:t>
            </a:r>
            <a:r>
              <a:rPr lang="pl-PL">
                <a:solidFill>
                  <a:schemeClr val="tx1"/>
                </a:solidFill>
              </a:rPr>
              <a:t> as </a:t>
            </a:r>
            <a:r>
              <a:rPr lang="pl-PL" err="1">
                <a:solidFill>
                  <a:schemeClr val="tx1"/>
                </a:solidFill>
              </a:rPr>
              <a:t>keeping</a:t>
            </a:r>
            <a:r>
              <a:rPr lang="pl-PL">
                <a:solidFill>
                  <a:schemeClr val="tx1"/>
                </a:solidFill>
              </a:rPr>
              <a:t> </a:t>
            </a:r>
            <a:r>
              <a:rPr lang="pl-PL" err="1">
                <a:solidFill>
                  <a:schemeClr val="tx1"/>
                </a:solidFill>
              </a:rPr>
              <a:t>only</a:t>
            </a:r>
            <a:r>
              <a:rPr lang="pl-PL">
                <a:solidFill>
                  <a:schemeClr val="tx1"/>
                </a:solidFill>
              </a:rPr>
              <a:t> </a:t>
            </a:r>
            <a:r>
              <a:rPr lang="pl-PL" err="1">
                <a:solidFill>
                  <a:schemeClr val="tx1"/>
                </a:solidFill>
              </a:rPr>
              <a:t>users</a:t>
            </a:r>
            <a:r>
              <a:rPr lang="pl-PL">
                <a:solidFill>
                  <a:schemeClr val="tx1"/>
                </a:solidFill>
              </a:rPr>
              <a:t> </a:t>
            </a:r>
            <a:r>
              <a:rPr lang="pl-PL" err="1">
                <a:solidFill>
                  <a:schemeClr val="tx1"/>
                </a:solidFill>
              </a:rPr>
              <a:t>satisfying</a:t>
            </a:r>
            <a:r>
              <a:rPr lang="pl-PL">
                <a:solidFill>
                  <a:schemeClr val="tx1"/>
                </a:solidFill>
              </a:rPr>
              <a:t> </a:t>
            </a:r>
            <a:r>
              <a:rPr lang="pl-PL" err="1">
                <a:solidFill>
                  <a:schemeClr val="tx1"/>
                </a:solidFill>
              </a:rPr>
              <a:t>minimal</a:t>
            </a:r>
            <a:r>
              <a:rPr lang="pl-PL">
                <a:solidFill>
                  <a:schemeClr val="tx1"/>
                </a:solidFill>
              </a:rPr>
              <a:t> </a:t>
            </a:r>
            <a:r>
              <a:rPr lang="pl-PL" err="1">
                <a:solidFill>
                  <a:schemeClr val="tx1"/>
                </a:solidFill>
              </a:rPr>
              <a:t>amount</a:t>
            </a:r>
            <a:r>
              <a:rPr lang="pl-PL">
                <a:solidFill>
                  <a:schemeClr val="tx1"/>
                </a:solidFill>
              </a:rPr>
              <a:t> of </a:t>
            </a:r>
            <a:r>
              <a:rPr lang="pl-PL" err="1">
                <a:solidFill>
                  <a:schemeClr val="tx1"/>
                </a:solidFill>
              </a:rPr>
              <a:t>recommendations</a:t>
            </a:r>
            <a:r>
              <a:rPr lang="pl-PL">
                <a:solidFill>
                  <a:schemeClr val="tx1"/>
                </a:solidFill>
              </a:rPr>
              <a:t> to </a:t>
            </a:r>
            <a:r>
              <a:rPr lang="pl-PL" err="1">
                <a:solidFill>
                  <a:schemeClr val="tx1"/>
                </a:solidFill>
              </a:rPr>
              <a:t>improve</a:t>
            </a:r>
            <a:r>
              <a:rPr lang="pl-PL">
                <a:solidFill>
                  <a:schemeClr val="tx1"/>
                </a:solidFill>
              </a:rPr>
              <a:t> </a:t>
            </a:r>
            <a:r>
              <a:rPr lang="pl-PL" err="1">
                <a:solidFill>
                  <a:schemeClr val="tx1"/>
                </a:solidFill>
              </a:rPr>
              <a:t>work</a:t>
            </a:r>
            <a:r>
              <a:rPr lang="pl-PL">
                <a:solidFill>
                  <a:schemeClr val="tx1"/>
                </a:solidFill>
              </a:rPr>
              <a:t> of </a:t>
            </a:r>
            <a:r>
              <a:rPr lang="pl-PL" err="1">
                <a:solidFill>
                  <a:schemeClr val="tx1"/>
                </a:solidFill>
              </a:rPr>
              <a:t>models</a:t>
            </a:r>
            <a:r>
              <a:rPr lang="pl-PL">
                <a:solidFill>
                  <a:schemeClr val="tx1"/>
                </a:solidFill>
              </a:rPr>
              <a:t> and </a:t>
            </a:r>
            <a:r>
              <a:rPr lang="pl-PL" err="1">
                <a:solidFill>
                  <a:schemeClr val="tx1"/>
                </a:solidFill>
              </a:rPr>
              <a:t>more</a:t>
            </a:r>
            <a:r>
              <a:rPr lang="pl-PL">
                <a:solidFill>
                  <a:schemeClr val="tx1"/>
                </a:solidFill>
              </a:rPr>
              <a:t> </a:t>
            </a:r>
            <a:r>
              <a:rPr lang="pl-PL" err="1">
                <a:solidFill>
                  <a:schemeClr val="tx1"/>
                </a:solidFill>
              </a:rPr>
              <a:t>importantly</a:t>
            </a:r>
            <a:r>
              <a:rPr lang="pl-PL">
                <a:solidFill>
                  <a:schemeClr val="tx1"/>
                </a:solidFill>
              </a:rPr>
              <a:t> </a:t>
            </a:r>
            <a:r>
              <a:rPr lang="pl-PL" err="1">
                <a:solidFill>
                  <a:schemeClr val="tx1"/>
                </a:solidFill>
              </a:rPr>
              <a:t>reduce</a:t>
            </a:r>
            <a:r>
              <a:rPr lang="pl-PL">
                <a:solidFill>
                  <a:schemeClr val="tx1"/>
                </a:solidFill>
              </a:rPr>
              <a:t> </a:t>
            </a:r>
            <a:r>
              <a:rPr lang="pl-PL" err="1">
                <a:solidFill>
                  <a:schemeClr val="tx1"/>
                </a:solidFill>
              </a:rPr>
              <a:t>total</a:t>
            </a:r>
            <a:r>
              <a:rPr lang="pl-PL">
                <a:solidFill>
                  <a:schemeClr val="tx1"/>
                </a:solidFill>
              </a:rPr>
              <a:t> </a:t>
            </a:r>
            <a:r>
              <a:rPr lang="pl-PL" err="1">
                <a:solidFill>
                  <a:schemeClr val="tx1"/>
                </a:solidFill>
              </a:rPr>
              <a:t>size</a:t>
            </a:r>
            <a:r>
              <a:rPr lang="pl-PL">
                <a:solidFill>
                  <a:schemeClr val="tx1"/>
                </a:solidFill>
              </a:rPr>
              <a:t> of data. For </a:t>
            </a:r>
            <a:r>
              <a:rPr lang="pl-PL" err="1">
                <a:solidFill>
                  <a:schemeClr val="tx1"/>
                </a:solidFill>
              </a:rPr>
              <a:t>further</a:t>
            </a:r>
            <a:r>
              <a:rPr lang="pl-PL">
                <a:solidFill>
                  <a:schemeClr val="tx1"/>
                </a:solidFill>
              </a:rPr>
              <a:t> </a:t>
            </a:r>
            <a:r>
              <a:rPr lang="pl-PL" err="1">
                <a:solidFill>
                  <a:schemeClr val="tx1"/>
                </a:solidFill>
              </a:rPr>
              <a:t>simplification</a:t>
            </a:r>
            <a:r>
              <a:rPr lang="pl-PL">
                <a:solidFill>
                  <a:schemeClr val="tx1"/>
                </a:solidFill>
              </a:rPr>
              <a:t> of the model we </a:t>
            </a:r>
            <a:r>
              <a:rPr lang="pl-PL" err="1">
                <a:solidFill>
                  <a:schemeClr val="tx1"/>
                </a:solidFill>
              </a:rPr>
              <a:t>decided</a:t>
            </a:r>
            <a:r>
              <a:rPr lang="pl-PL">
                <a:solidFill>
                  <a:schemeClr val="tx1"/>
                </a:solidFill>
              </a:rPr>
              <a:t> to </a:t>
            </a:r>
            <a:r>
              <a:rPr lang="pl-PL" err="1">
                <a:solidFill>
                  <a:schemeClr val="tx1"/>
                </a:solidFill>
              </a:rPr>
              <a:t>use</a:t>
            </a:r>
            <a:r>
              <a:rPr lang="pl-PL">
                <a:solidFill>
                  <a:schemeClr val="tx1"/>
                </a:solidFill>
              </a:rPr>
              <a:t> </a:t>
            </a:r>
            <a:r>
              <a:rPr lang="pl-PL" err="1">
                <a:solidFill>
                  <a:schemeClr val="tx1"/>
                </a:solidFill>
              </a:rPr>
              <a:t>only</a:t>
            </a:r>
            <a:r>
              <a:rPr lang="pl-PL">
                <a:solidFill>
                  <a:schemeClr val="tx1"/>
                </a:solidFill>
              </a:rPr>
              <a:t> </a:t>
            </a:r>
            <a:r>
              <a:rPr lang="pl-PL" err="1">
                <a:solidFill>
                  <a:schemeClr val="tx1"/>
                </a:solidFill>
              </a:rPr>
              <a:t>positive</a:t>
            </a:r>
            <a:r>
              <a:rPr lang="pl-PL">
                <a:solidFill>
                  <a:schemeClr val="tx1"/>
                </a:solidFill>
              </a:rPr>
              <a:t> </a:t>
            </a:r>
            <a:r>
              <a:rPr lang="pl-PL" err="1">
                <a:solidFill>
                  <a:schemeClr val="tx1"/>
                </a:solidFill>
              </a:rPr>
              <a:t>opinions</a:t>
            </a:r>
            <a:r>
              <a:rPr lang="pl-PL">
                <a:solidFill>
                  <a:schemeClr val="tx1"/>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a:t>Evaluation Methods for suggested models</a:t>
            </a:r>
            <a:endParaRPr/>
          </a:p>
        </p:txBody>
      </p:sp>
      <mc:AlternateContent xmlns:mc="http://schemas.openxmlformats.org/markup-compatibility/2006">
        <mc:Choice xmlns:a14="http://schemas.microsoft.com/office/drawing/2010/main" Requires="a14">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US" dirty="0">
                    <a:solidFill>
                      <a:schemeClr val="tx1"/>
                    </a:solidFill>
                  </a:rPr>
                  <a:t>Every model in its final form returns for given user most probable games in order of descending probability. </a:t>
                </a:r>
              </a:p>
              <a:p>
                <a:pPr marL="0" lvl="0" indent="0" algn="l" rtl="0">
                  <a:spcBef>
                    <a:spcPts val="1200"/>
                  </a:spcBef>
                  <a:spcAft>
                    <a:spcPts val="0"/>
                  </a:spcAft>
                  <a:buNone/>
                </a:pPr>
                <a:r>
                  <a:rPr lang="en-US" dirty="0">
                    <a:solidFill>
                      <a:schemeClr val="tx1"/>
                    </a:solidFill>
                  </a:rPr>
                  <a:t>Every dataset split is made on 70:30 proportions</a:t>
                </a:r>
                <a:r>
                  <a:rPr lang="pl-PL" dirty="0">
                    <a:solidFill>
                      <a:schemeClr val="tx1"/>
                    </a:solidFill>
                  </a:rPr>
                  <a:t> and </a:t>
                </a:r>
                <a:r>
                  <a:rPr lang="pl-PL" dirty="0" err="1">
                    <a:solidFill>
                      <a:schemeClr val="tx1"/>
                    </a:solidFill>
                  </a:rPr>
                  <a:t>after</a:t>
                </a:r>
                <a:r>
                  <a:rPr lang="pl-PL" dirty="0">
                    <a:solidFill>
                      <a:schemeClr val="tx1"/>
                    </a:solidFill>
                  </a:rPr>
                  <a:t> </a:t>
                </a:r>
                <a:r>
                  <a:rPr lang="pl-PL" dirty="0" err="1">
                    <a:solidFill>
                      <a:schemeClr val="tx1"/>
                    </a:solidFill>
                  </a:rPr>
                  <a:t>training</a:t>
                </a:r>
                <a:r>
                  <a:rPr lang="en-US" dirty="0">
                    <a:solidFill>
                      <a:schemeClr val="tx1"/>
                    </a:solidFill>
                  </a:rPr>
                  <a:t> evaluated </a:t>
                </a:r>
                <a:r>
                  <a:rPr lang="pl-PL" dirty="0">
                    <a:solidFill>
                      <a:schemeClr val="tx1"/>
                    </a:solidFill>
                  </a:rPr>
                  <a:t>by </a:t>
                </a:r>
                <a:r>
                  <a:rPr lang="pl-PL" dirty="0" err="1">
                    <a:solidFill>
                      <a:schemeClr val="tx1"/>
                    </a:solidFill>
                  </a:rPr>
                  <a:t>following</a:t>
                </a:r>
                <a:r>
                  <a:rPr lang="pl-PL" dirty="0">
                    <a:solidFill>
                      <a:schemeClr val="tx1"/>
                    </a:solidFill>
                  </a:rPr>
                  <a:t>:</a:t>
                </a:r>
              </a:p>
              <a:p>
                <a:pPr marL="0" lvl="0" indent="0" algn="l" rtl="0">
                  <a:spcBef>
                    <a:spcPts val="1200"/>
                  </a:spcBef>
                  <a:spcAft>
                    <a:spcPts val="0"/>
                  </a:spcAft>
                  <a:buNone/>
                </a:pPr>
                <a:r>
                  <a:rPr lang="pl-PL" dirty="0" err="1">
                    <a:solidFill>
                      <a:schemeClr val="tx1"/>
                    </a:solidFill>
                  </a:rPr>
                  <a:t>Predictive</a:t>
                </a:r>
                <a:r>
                  <a:rPr lang="pl-PL" dirty="0">
                    <a:solidFill>
                      <a:schemeClr val="tx1"/>
                    </a:solidFill>
                  </a:rPr>
                  <a:t> </a:t>
                </a:r>
                <a:r>
                  <a:rPr lang="pl-PL" dirty="0" err="1">
                    <a:solidFill>
                      <a:schemeClr val="tx1"/>
                    </a:solidFill>
                  </a:rPr>
                  <a:t>quality</a:t>
                </a:r>
                <a:r>
                  <a:rPr lang="pl-PL" dirty="0">
                    <a:solidFill>
                      <a:schemeClr val="tx1"/>
                    </a:solidFill>
                  </a:rPr>
                  <a:t> </a:t>
                </a:r>
                <a:r>
                  <a:rPr lang="pl-PL" dirty="0" err="1">
                    <a:solidFill>
                      <a:schemeClr val="tx1"/>
                    </a:solidFill>
                  </a:rPr>
                  <a:t>metric</a:t>
                </a:r>
                <a:r>
                  <a:rPr lang="pl-PL" dirty="0">
                    <a:solidFill>
                      <a:schemeClr val="tx1"/>
                    </a:solidFill>
                  </a:rPr>
                  <a:t>: </a:t>
                </a:r>
              </a:p>
              <a:p>
                <a:pPr marL="285750" lvl="0" indent="-285750" algn="l" rtl="0">
                  <a:spcBef>
                    <a:spcPts val="1200"/>
                  </a:spcBef>
                  <a:spcAft>
                    <a:spcPts val="0"/>
                  </a:spcAft>
                  <a:buFontTx/>
                  <a:buChar char="-"/>
                </a:pPr>
                <a:r>
                  <a:rPr lang="pl-PL" dirty="0" err="1">
                    <a:solidFill>
                      <a:schemeClr val="tx1"/>
                    </a:solidFill>
                  </a:rPr>
                  <a:t>Average</a:t>
                </a:r>
                <a:r>
                  <a:rPr lang="pl-PL" dirty="0">
                    <a:solidFill>
                      <a:schemeClr val="tx1"/>
                    </a:solidFill>
                  </a:rPr>
                  <a:t> Recall@10 = </a:t>
                </a:r>
                <a14:m>
                  <m:oMath xmlns:m="http://schemas.openxmlformats.org/officeDocument/2006/math">
                    <m:f>
                      <m:fPr>
                        <m:ctrlPr>
                          <a:rPr lang="pl-PL" b="0" i="1" smtClean="0">
                            <a:solidFill>
                              <a:schemeClr val="tx1"/>
                            </a:solidFill>
                            <a:latin typeface="Cambria Math" panose="02040503050406030204" pitchFamily="18" charset="0"/>
                          </a:rPr>
                        </m:ctrlPr>
                      </m:fPr>
                      <m:num>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𝑜𝑓</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𝐻𝑖𝑡𝑠</m:t>
                        </m:r>
                        <m:r>
                          <a:rPr lang="pl-PL" b="0" i="1" smtClean="0">
                            <a:solidFill>
                              <a:schemeClr val="tx1"/>
                            </a:solidFill>
                            <a:latin typeface="Cambria Math" panose="02040503050406030204" pitchFamily="18" charset="0"/>
                          </a:rPr>
                          <m:t> </m:t>
                        </m:r>
                      </m:num>
                      <m:den>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𝑜𝑓</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𝐸𝑥𝑝𝑒𝑐𝑡𝑒𝑑</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𝐻𝑖𝑡𝑠</m:t>
                        </m:r>
                      </m:den>
                    </m:f>
                  </m:oMath>
                </a14:m>
                <a:endParaRPr lang="pl-PL" dirty="0">
                  <a:solidFill>
                    <a:schemeClr val="tx1"/>
                  </a:solidFill>
                </a:endParaRPr>
              </a:p>
              <a:p>
                <a:pPr marL="0" lvl="0" indent="0" algn="l" rtl="0">
                  <a:spcBef>
                    <a:spcPts val="1200"/>
                  </a:spcBef>
                  <a:spcAft>
                    <a:spcPts val="0"/>
                  </a:spcAft>
                  <a:buNone/>
                </a:pPr>
                <a:r>
                  <a:rPr lang="pl-PL" dirty="0">
                    <a:solidFill>
                      <a:schemeClr val="tx1"/>
                    </a:solidFill>
                  </a:rPr>
                  <a:t>Ranking </a:t>
                </a:r>
                <a:r>
                  <a:rPr lang="pl-PL" dirty="0" err="1">
                    <a:solidFill>
                      <a:schemeClr val="tx1"/>
                    </a:solidFill>
                  </a:rPr>
                  <a:t>quality</a:t>
                </a:r>
                <a:r>
                  <a:rPr lang="pl-PL" dirty="0">
                    <a:solidFill>
                      <a:schemeClr val="tx1"/>
                    </a:solidFill>
                  </a:rPr>
                  <a:t> </a:t>
                </a:r>
                <a:r>
                  <a:rPr lang="en-US" dirty="0">
                    <a:solidFill>
                      <a:schemeClr val="tx1"/>
                    </a:solidFill>
                  </a:rPr>
                  <a:t>metrics:</a:t>
                </a:r>
                <a:endParaRPr lang="pl-PL" dirty="0">
                  <a:solidFill>
                    <a:schemeClr val="tx1"/>
                  </a:solidFill>
                </a:endParaRPr>
              </a:p>
              <a:p>
                <a:pPr marL="285750" lvl="0" indent="-285750" algn="l" rtl="0">
                  <a:spcBef>
                    <a:spcPts val="1200"/>
                  </a:spcBef>
                  <a:spcAft>
                    <a:spcPts val="0"/>
                  </a:spcAft>
                  <a:buFontTx/>
                  <a:buChar char="-"/>
                </a:pPr>
                <a:r>
                  <a:rPr lang="en-US" dirty="0">
                    <a:solidFill>
                      <a:schemeClr val="tx1"/>
                    </a:solidFill>
                  </a:rPr>
                  <a:t>MRR (Mean Reciprocal Rank) </a:t>
                </a:r>
                <a:r>
                  <a:rPr lang="pl-PL" dirty="0">
                    <a:solidFill>
                      <a:schemeClr val="tx1"/>
                    </a:solidFill>
                  </a:rPr>
                  <a:t>-</a:t>
                </a:r>
                <a:r>
                  <a:rPr lang="en-US" dirty="0">
                    <a:solidFill>
                      <a:schemeClr val="tx1"/>
                    </a:solidFill>
                  </a:rPr>
                  <a:t> </a:t>
                </a:r>
                <a14:m>
                  <m:oMath xmlns:m="http://schemas.openxmlformats.org/officeDocument/2006/math">
                    <m:f>
                      <m:fPr>
                        <m:ctrlPr>
                          <a:rPr lang="pl-PL" b="0" i="1" smtClean="0">
                            <a:solidFill>
                              <a:schemeClr val="tx1"/>
                            </a:solidFill>
                            <a:latin typeface="Cambria Math" panose="02040503050406030204" pitchFamily="18" charset="0"/>
                          </a:rPr>
                        </m:ctrlPr>
                      </m:fPr>
                      <m:num>
                        <m:r>
                          <a:rPr lang="pl-PL" b="0" i="1" smtClean="0">
                            <a:solidFill>
                              <a:schemeClr val="tx1"/>
                            </a:solidFill>
                            <a:latin typeface="Cambria Math" panose="02040503050406030204" pitchFamily="18" charset="0"/>
                          </a:rPr>
                          <m:t>1</m:t>
                        </m:r>
                      </m:num>
                      <m:den>
                        <m:d>
                          <m:dPr>
                            <m:begChr m:val="|"/>
                            <m:endChr m:val="|"/>
                            <m:ctrlPr>
                              <a:rPr lang="pl-PL" b="0" i="1" smtClean="0">
                                <a:solidFill>
                                  <a:schemeClr val="tx1"/>
                                </a:solidFill>
                                <a:latin typeface="Cambria Math" panose="02040503050406030204" pitchFamily="18" charset="0"/>
                              </a:rPr>
                            </m:ctrlPr>
                          </m:dPr>
                          <m:e>
                            <m:r>
                              <a:rPr lang="pl-PL" b="0" i="1" smtClean="0">
                                <a:solidFill>
                                  <a:schemeClr val="tx1"/>
                                </a:solidFill>
                                <a:latin typeface="Cambria Math" panose="02040503050406030204" pitchFamily="18" charset="0"/>
                              </a:rPr>
                              <m:t>𝑄</m:t>
                            </m:r>
                          </m:e>
                        </m:d>
                      </m:den>
                    </m:f>
                    <m:nary>
                      <m:naryPr>
                        <m:chr m:val="∑"/>
                        <m:ctrlPr>
                          <a:rPr lang="pl-PL" b="0" i="1" smtClean="0">
                            <a:solidFill>
                              <a:schemeClr val="tx1"/>
                            </a:solidFill>
                            <a:latin typeface="Cambria Math" panose="02040503050406030204" pitchFamily="18" charset="0"/>
                          </a:rPr>
                        </m:ctrlPr>
                      </m:naryPr>
                      <m:sub>
                        <m:r>
                          <m:rPr>
                            <m:brk m:alnAt="23"/>
                          </m:rPr>
                          <a:rPr lang="pl-PL" b="0" i="1" smtClean="0">
                            <a:solidFill>
                              <a:schemeClr val="tx1"/>
                            </a:solidFill>
                            <a:latin typeface="Cambria Math" panose="02040503050406030204" pitchFamily="18" charset="0"/>
                          </a:rPr>
                          <m:t>𝑖</m:t>
                        </m:r>
                        <m:r>
                          <a:rPr lang="pl-PL" b="0" i="1" smtClean="0">
                            <a:solidFill>
                              <a:schemeClr val="tx1"/>
                            </a:solidFill>
                            <a:latin typeface="Cambria Math" panose="02040503050406030204" pitchFamily="18" charset="0"/>
                          </a:rPr>
                          <m:t>=1</m:t>
                        </m:r>
                      </m:sub>
                      <m:sup>
                        <m:d>
                          <m:dPr>
                            <m:begChr m:val="|"/>
                            <m:endChr m:val="|"/>
                            <m:ctrlPr>
                              <a:rPr lang="pl-PL" b="0" i="1" smtClean="0">
                                <a:solidFill>
                                  <a:schemeClr val="tx1"/>
                                </a:solidFill>
                                <a:latin typeface="Cambria Math" panose="02040503050406030204" pitchFamily="18" charset="0"/>
                              </a:rPr>
                            </m:ctrlPr>
                          </m:dPr>
                          <m:e>
                            <m:r>
                              <a:rPr lang="pl-PL" b="0" i="1" smtClean="0">
                                <a:solidFill>
                                  <a:schemeClr val="tx1"/>
                                </a:solidFill>
                                <a:latin typeface="Cambria Math" panose="02040503050406030204" pitchFamily="18" charset="0"/>
                              </a:rPr>
                              <m:t>𝑄</m:t>
                            </m:r>
                          </m:e>
                        </m:d>
                      </m:sup>
                      <m:e>
                        <m:f>
                          <m:fPr>
                            <m:ctrlPr>
                              <a:rPr lang="pl-PL" b="0" i="1" smtClean="0">
                                <a:solidFill>
                                  <a:schemeClr val="tx1"/>
                                </a:solidFill>
                                <a:latin typeface="Cambria Math" panose="02040503050406030204" pitchFamily="18" charset="0"/>
                              </a:rPr>
                            </m:ctrlPr>
                          </m:fPr>
                          <m:num>
                            <m:r>
                              <a:rPr lang="pl-PL" b="0" i="1" smtClean="0">
                                <a:solidFill>
                                  <a:schemeClr val="tx1"/>
                                </a:solidFill>
                                <a:latin typeface="Cambria Math" panose="02040503050406030204" pitchFamily="18" charset="0"/>
                              </a:rPr>
                              <m:t>1</m:t>
                            </m:r>
                          </m:num>
                          <m:den>
                            <m:r>
                              <a:rPr lang="pl-PL" b="0" i="1" smtClean="0">
                                <a:solidFill>
                                  <a:schemeClr val="tx1"/>
                                </a:solidFill>
                                <a:latin typeface="Cambria Math" panose="02040503050406030204" pitchFamily="18" charset="0"/>
                              </a:rPr>
                              <m:t>𝑟𝑎𝑛</m:t>
                            </m:r>
                            <m:sSub>
                              <m:sSubPr>
                                <m:ctrlPr>
                                  <a:rPr lang="pl-PL" b="0" i="1" smtClean="0">
                                    <a:solidFill>
                                      <a:schemeClr val="tx1"/>
                                    </a:solidFill>
                                    <a:latin typeface="Cambria Math" panose="02040503050406030204" pitchFamily="18" charset="0"/>
                                  </a:rPr>
                                </m:ctrlPr>
                              </m:sSubPr>
                              <m:e>
                                <m:r>
                                  <a:rPr lang="pl-PL" b="0" i="1" smtClean="0">
                                    <a:solidFill>
                                      <a:schemeClr val="tx1"/>
                                    </a:solidFill>
                                    <a:latin typeface="Cambria Math" panose="02040503050406030204" pitchFamily="18" charset="0"/>
                                  </a:rPr>
                                  <m:t>𝑘</m:t>
                                </m:r>
                              </m:e>
                              <m:sub>
                                <m:r>
                                  <a:rPr lang="pl-PL" b="0" i="1" smtClean="0">
                                    <a:solidFill>
                                      <a:schemeClr val="tx1"/>
                                    </a:solidFill>
                                    <a:latin typeface="Cambria Math" panose="02040503050406030204" pitchFamily="18" charset="0"/>
                                  </a:rPr>
                                  <m:t>𝑖</m:t>
                                </m:r>
                              </m:sub>
                            </m:sSub>
                          </m:den>
                        </m:f>
                      </m:e>
                    </m:nary>
                  </m:oMath>
                </a14:m>
                <a:r>
                  <a:rPr lang="pl-PL" dirty="0">
                    <a:solidFill>
                      <a:schemeClr val="tx1"/>
                    </a:solidFill>
                  </a:rPr>
                  <a:t> (</a:t>
                </a:r>
                <a:r>
                  <a:rPr lang="pl-PL" dirty="0" err="1">
                    <a:solidFill>
                      <a:schemeClr val="tx1"/>
                    </a:solidFill>
                  </a:rPr>
                  <a:t>if</a:t>
                </a:r>
                <a:r>
                  <a:rPr lang="pl-PL" dirty="0">
                    <a:solidFill>
                      <a:schemeClr val="tx1"/>
                    </a:solidFill>
                  </a:rPr>
                  <a:t> </a:t>
                </a:r>
                <a:r>
                  <a:rPr lang="pl-PL" dirty="0" err="1">
                    <a:solidFill>
                      <a:schemeClr val="tx1"/>
                    </a:solidFill>
                  </a:rPr>
                  <a:t>none</a:t>
                </a:r>
                <a:r>
                  <a:rPr lang="pl-PL" dirty="0">
                    <a:solidFill>
                      <a:schemeClr val="tx1"/>
                    </a:solidFill>
                  </a:rPr>
                  <a:t> </a:t>
                </a:r>
                <a:r>
                  <a:rPr lang="pl-PL" dirty="0" err="1">
                    <a:solidFill>
                      <a:schemeClr val="tx1"/>
                    </a:solidFill>
                  </a:rPr>
                  <a:t>are</a:t>
                </a:r>
                <a:r>
                  <a:rPr lang="pl-PL" dirty="0">
                    <a:solidFill>
                      <a:schemeClr val="tx1"/>
                    </a:solidFill>
                  </a:rPr>
                  <a:t> </a:t>
                </a:r>
                <a:r>
                  <a:rPr lang="pl-PL" dirty="0" err="1">
                    <a:solidFill>
                      <a:schemeClr val="tx1"/>
                    </a:solidFill>
                  </a:rPr>
                  <a:t>found</a:t>
                </a:r>
                <a:r>
                  <a:rPr lang="pl-PL" dirty="0">
                    <a:solidFill>
                      <a:schemeClr val="tx1"/>
                    </a:solidFill>
                  </a:rPr>
                  <a:t>, </a:t>
                </a:r>
                <a:r>
                  <a:rPr lang="pl-PL" dirty="0" err="1">
                    <a:solidFill>
                      <a:schemeClr val="tx1"/>
                    </a:solidFill>
                  </a:rPr>
                  <a:t>rank</a:t>
                </a:r>
                <a:r>
                  <a:rPr lang="pl-PL" dirty="0">
                    <a:solidFill>
                      <a:schemeClr val="tx1"/>
                    </a:solidFill>
                  </a:rPr>
                  <a:t> = MAX_RANK)</a:t>
                </a:r>
              </a:p>
              <a:p>
                <a:pPr marL="285750" lvl="0" indent="-285750" algn="l" rtl="0">
                  <a:spcBef>
                    <a:spcPts val="1200"/>
                  </a:spcBef>
                  <a:spcAft>
                    <a:spcPts val="0"/>
                  </a:spcAft>
                  <a:buFontTx/>
                  <a:buChar char="-"/>
                </a:pPr>
                <a:r>
                  <a:rPr lang="en-US" dirty="0">
                    <a:solidFill>
                      <a:schemeClr val="tx1"/>
                    </a:solidFill>
                  </a:rPr>
                  <a:t>HR@10 (Hit Rate) </a:t>
                </a:r>
                <a:r>
                  <a:rPr lang="pl-PL" dirty="0">
                    <a:solidFill>
                      <a:schemeClr val="tx1"/>
                    </a:solidFill>
                  </a:rPr>
                  <a:t>- </a:t>
                </a:r>
                <a14:m>
                  <m:oMath xmlns:m="http://schemas.openxmlformats.org/officeDocument/2006/math">
                    <m:f>
                      <m:fPr>
                        <m:ctrlPr>
                          <a:rPr lang="pl-PL" b="0" i="1" smtClean="0">
                            <a:solidFill>
                              <a:schemeClr val="tx1"/>
                            </a:solidFill>
                            <a:latin typeface="Cambria Math" panose="02040503050406030204" pitchFamily="18" charset="0"/>
                          </a:rPr>
                        </m:ctrlPr>
                      </m:fPr>
                      <m:num>
                        <m:r>
                          <a:rPr lang="pl-PL" b="0" i="1" smtClean="0">
                            <a:solidFill>
                              <a:schemeClr val="tx1"/>
                            </a:solidFill>
                            <a:latin typeface="Cambria Math" panose="02040503050406030204" pitchFamily="18" charset="0"/>
                          </a:rPr>
                          <m:t>𝑁𝑢𝑚𝑏𝑒𝑟</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𝑜𝑓</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𝐻𝑖𝑡𝑠</m:t>
                        </m:r>
                      </m:num>
                      <m:den>
                        <m:r>
                          <a:rPr lang="pl-PL" b="0" i="1" smtClean="0">
                            <a:solidFill>
                              <a:schemeClr val="tx1"/>
                            </a:solidFill>
                            <a:latin typeface="Cambria Math" panose="02040503050406030204" pitchFamily="18" charset="0"/>
                          </a:rPr>
                          <m:t>𝑇𝑜𝑡𝑎𝑙</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𝑁𝑢𝑚𝑏𝑒𝑟</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𝑜𝑓</m:t>
                        </m:r>
                        <m:r>
                          <a:rPr lang="pl-PL" b="0" i="1" smtClean="0">
                            <a:solidFill>
                              <a:schemeClr val="tx1"/>
                            </a:solidFill>
                            <a:latin typeface="Cambria Math" panose="02040503050406030204" pitchFamily="18" charset="0"/>
                          </a:rPr>
                          <m:t> </m:t>
                        </m:r>
                        <m:r>
                          <a:rPr lang="pl-PL" b="0" i="1" smtClean="0">
                            <a:solidFill>
                              <a:schemeClr val="tx1"/>
                            </a:solidFill>
                            <a:latin typeface="Cambria Math" panose="02040503050406030204" pitchFamily="18" charset="0"/>
                          </a:rPr>
                          <m:t>𝑄𝑢𝑒𝑟𝑖𝑒𝑠</m:t>
                        </m:r>
                      </m:den>
                    </m:f>
                  </m:oMath>
                </a14:m>
                <a:endParaRPr lang="pl-PL" dirty="0">
                  <a:solidFill>
                    <a:schemeClr val="tx1"/>
                  </a:solidFill>
                </a:endParaRPr>
              </a:p>
              <a:p>
                <a:pPr marL="114300" lvl="0" indent="0" algn="l" rtl="0">
                  <a:spcBef>
                    <a:spcPts val="0"/>
                  </a:spcBef>
                  <a:spcAft>
                    <a:spcPts val="0"/>
                  </a:spcAft>
                  <a:buSzPts val="1800"/>
                  <a:buNone/>
                </a:pPr>
                <a:endParaRPr lang="pl-PL" dirty="0">
                  <a:solidFill>
                    <a:schemeClr val="tx1"/>
                  </a:solidFill>
                </a:endParaRPr>
              </a:p>
              <a:p>
                <a:pPr marL="114300" lvl="0" indent="0" algn="l" rtl="0">
                  <a:spcBef>
                    <a:spcPts val="0"/>
                  </a:spcBef>
                  <a:spcAft>
                    <a:spcPts val="0"/>
                  </a:spcAft>
                  <a:buSzPts val="1800"/>
                  <a:buNone/>
                </a:pPr>
                <a:r>
                  <a:rPr lang="pl-PL" dirty="0" err="1">
                    <a:solidFill>
                      <a:schemeClr val="tx1"/>
                    </a:solidFill>
                  </a:rPr>
                  <a:t>Each</a:t>
                </a:r>
                <a:r>
                  <a:rPr lang="pl-PL" dirty="0">
                    <a:solidFill>
                      <a:schemeClr val="tx1"/>
                    </a:solidFill>
                  </a:rPr>
                  <a:t> </a:t>
                </a:r>
                <a:r>
                  <a:rPr lang="pl-PL" dirty="0" err="1">
                    <a:solidFill>
                      <a:schemeClr val="tx1"/>
                    </a:solidFill>
                  </a:rPr>
                  <a:t>query</a:t>
                </a:r>
                <a:r>
                  <a:rPr lang="pl-PL" dirty="0">
                    <a:solidFill>
                      <a:schemeClr val="tx1"/>
                    </a:solidFill>
                  </a:rPr>
                  <a:t> </a:t>
                </a:r>
                <a:r>
                  <a:rPr lang="pl-PL" dirty="0" err="1">
                    <a:solidFill>
                      <a:schemeClr val="tx1"/>
                    </a:solidFill>
                  </a:rPr>
                  <a:t>has</a:t>
                </a:r>
                <a:r>
                  <a:rPr lang="pl-PL" dirty="0">
                    <a:solidFill>
                      <a:schemeClr val="tx1"/>
                    </a:solidFill>
                  </a:rPr>
                  <a:t> </a:t>
                </a:r>
                <a:r>
                  <a:rPr lang="pl-PL" dirty="0" err="1">
                    <a:solidFill>
                      <a:schemeClr val="tx1"/>
                    </a:solidFill>
                  </a:rPr>
                  <a:t>at</a:t>
                </a:r>
                <a:r>
                  <a:rPr lang="pl-PL" dirty="0">
                    <a:solidFill>
                      <a:schemeClr val="tx1"/>
                    </a:solidFill>
                  </a:rPr>
                  <a:t> </a:t>
                </a:r>
                <a:r>
                  <a:rPr lang="pl-PL" dirty="0" err="1">
                    <a:solidFill>
                      <a:schemeClr val="tx1"/>
                    </a:solidFill>
                  </a:rPr>
                  <a:t>least</a:t>
                </a:r>
                <a:r>
                  <a:rPr lang="pl-PL" dirty="0">
                    <a:solidFill>
                      <a:schemeClr val="tx1"/>
                    </a:solidFill>
                  </a:rPr>
                  <a:t> one </a:t>
                </a:r>
                <a:r>
                  <a:rPr lang="pl-PL" dirty="0" err="1">
                    <a:solidFill>
                      <a:schemeClr val="tx1"/>
                    </a:solidFill>
                  </a:rPr>
                  <a:t>answer</a:t>
                </a:r>
                <a:r>
                  <a:rPr lang="pl-PL" dirty="0">
                    <a:solidFill>
                      <a:schemeClr val="tx1"/>
                    </a:solidFill>
                  </a:rPr>
                  <a:t>. </a:t>
                </a:r>
                <a:r>
                  <a:rPr lang="pl-PL" dirty="0" err="1">
                    <a:solidFill>
                      <a:schemeClr val="tx1"/>
                    </a:solidFill>
                  </a:rPr>
                  <a:t>Only</a:t>
                </a:r>
                <a:r>
                  <a:rPr lang="pl-PL" dirty="0">
                    <a:solidFill>
                      <a:schemeClr val="tx1"/>
                    </a:solidFill>
                  </a:rPr>
                  <a:t> the </a:t>
                </a:r>
                <a:r>
                  <a:rPr lang="pl-PL" dirty="0" err="1">
                    <a:solidFill>
                      <a:schemeClr val="tx1"/>
                    </a:solidFill>
                  </a:rPr>
                  <a:t>highest</a:t>
                </a:r>
                <a:r>
                  <a:rPr lang="pl-PL" dirty="0">
                    <a:solidFill>
                      <a:schemeClr val="tx1"/>
                    </a:solidFill>
                  </a:rPr>
                  <a:t> ranking </a:t>
                </a:r>
                <a:r>
                  <a:rPr lang="pl-PL" dirty="0" err="1">
                    <a:solidFill>
                      <a:schemeClr val="tx1"/>
                    </a:solidFill>
                  </a:rPr>
                  <a:t>true</a:t>
                </a:r>
                <a:r>
                  <a:rPr lang="pl-PL" dirty="0">
                    <a:solidFill>
                      <a:schemeClr val="tx1"/>
                    </a:solidFill>
                  </a:rPr>
                  <a:t> </a:t>
                </a:r>
                <a:r>
                  <a:rPr lang="pl-PL" dirty="0" err="1">
                    <a:solidFill>
                      <a:schemeClr val="tx1"/>
                    </a:solidFill>
                  </a:rPr>
                  <a:t>positive</a:t>
                </a:r>
                <a:r>
                  <a:rPr lang="pl-PL" dirty="0">
                    <a:solidFill>
                      <a:schemeClr val="tx1"/>
                    </a:solidFill>
                  </a:rPr>
                  <a:t> </a:t>
                </a:r>
                <a:r>
                  <a:rPr lang="pl-PL" dirty="0" err="1">
                    <a:solidFill>
                      <a:schemeClr val="tx1"/>
                    </a:solidFill>
                  </a:rPr>
                  <a:t>is</a:t>
                </a:r>
                <a:r>
                  <a:rPr lang="pl-PL" dirty="0">
                    <a:solidFill>
                      <a:schemeClr val="tx1"/>
                    </a:solidFill>
                  </a:rPr>
                  <a:t> </a:t>
                </a:r>
                <a:r>
                  <a:rPr lang="pl-PL" dirty="0" err="1">
                    <a:solidFill>
                      <a:schemeClr val="tx1"/>
                    </a:solidFill>
                  </a:rPr>
                  <a:t>considered</a:t>
                </a:r>
                <a:r>
                  <a:rPr lang="pl-PL" dirty="0">
                    <a:solidFill>
                      <a:schemeClr val="tx1"/>
                    </a:solidFill>
                  </a:rPr>
                  <a:t> in </a:t>
                </a:r>
                <a:r>
                  <a:rPr lang="pl-PL" dirty="0" err="1">
                    <a:solidFill>
                      <a:schemeClr val="tx1"/>
                    </a:solidFill>
                  </a:rPr>
                  <a:t>both</a:t>
                </a:r>
                <a:r>
                  <a:rPr lang="pl-PL" dirty="0">
                    <a:solidFill>
                      <a:schemeClr val="tx1"/>
                    </a:solidFill>
                  </a:rPr>
                  <a:t> </a:t>
                </a:r>
                <a:r>
                  <a:rPr lang="pl-PL" dirty="0" err="1">
                    <a:solidFill>
                      <a:schemeClr val="tx1"/>
                    </a:solidFill>
                  </a:rPr>
                  <a:t>metrics</a:t>
                </a:r>
                <a:r>
                  <a:rPr lang="pl-PL" dirty="0">
                    <a:solidFill>
                      <a:schemeClr val="tx1"/>
                    </a:solidFill>
                  </a:rPr>
                  <a:t> and </a:t>
                </a:r>
                <a:r>
                  <a:rPr lang="pl-PL" dirty="0" err="1">
                    <a:solidFill>
                      <a:schemeClr val="tx1"/>
                    </a:solidFill>
                  </a:rPr>
                  <a:t>is</a:t>
                </a:r>
                <a:r>
                  <a:rPr lang="pl-PL" dirty="0">
                    <a:solidFill>
                      <a:schemeClr val="tx1"/>
                    </a:solidFill>
                  </a:rPr>
                  <a:t> </a:t>
                </a:r>
                <a:r>
                  <a:rPr lang="pl-PL" dirty="0" err="1">
                    <a:solidFill>
                      <a:schemeClr val="tx1"/>
                    </a:solidFill>
                  </a:rPr>
                  <a:t>considered</a:t>
                </a:r>
                <a:r>
                  <a:rPr lang="pl-PL" dirty="0">
                    <a:solidFill>
                      <a:schemeClr val="tx1"/>
                    </a:solidFill>
                  </a:rPr>
                  <a:t> a hit </a:t>
                </a:r>
                <a:r>
                  <a:rPr lang="pl-PL" dirty="0" err="1">
                    <a:solidFill>
                      <a:schemeClr val="tx1"/>
                    </a:solidFill>
                  </a:rPr>
                  <a:t>if</a:t>
                </a:r>
                <a:r>
                  <a:rPr lang="pl-PL" dirty="0">
                    <a:solidFill>
                      <a:schemeClr val="tx1"/>
                    </a:solidFill>
                  </a:rPr>
                  <a:t> </a:t>
                </a:r>
                <a:r>
                  <a:rPr lang="pl-PL" dirty="0" err="1">
                    <a:solidFill>
                      <a:schemeClr val="tx1"/>
                    </a:solidFill>
                  </a:rPr>
                  <a:t>it</a:t>
                </a:r>
                <a:r>
                  <a:rPr lang="pl-PL" dirty="0">
                    <a:solidFill>
                      <a:schemeClr val="tx1"/>
                    </a:solidFill>
                  </a:rPr>
                  <a:t> </a:t>
                </a:r>
                <a:r>
                  <a:rPr lang="pl-PL" dirty="0" err="1">
                    <a:solidFill>
                      <a:schemeClr val="tx1"/>
                    </a:solidFill>
                  </a:rPr>
                  <a:t>appears</a:t>
                </a:r>
                <a:r>
                  <a:rPr lang="pl-PL" dirty="0">
                    <a:solidFill>
                      <a:schemeClr val="tx1"/>
                    </a:solidFill>
                  </a:rPr>
                  <a:t> in </a:t>
                </a:r>
                <a:r>
                  <a:rPr lang="pl-PL" dirty="0" err="1">
                    <a:solidFill>
                      <a:schemeClr val="tx1"/>
                    </a:solidFill>
                  </a:rPr>
                  <a:t>first</a:t>
                </a:r>
                <a:r>
                  <a:rPr lang="pl-PL" dirty="0">
                    <a:solidFill>
                      <a:schemeClr val="tx1"/>
                    </a:solidFill>
                  </a:rPr>
                  <a:t> 10 </a:t>
                </a:r>
                <a:r>
                  <a:rPr lang="pl-PL" dirty="0" err="1">
                    <a:solidFill>
                      <a:schemeClr val="tx1"/>
                    </a:solidFill>
                  </a:rPr>
                  <a:t>recommendations</a:t>
                </a:r>
                <a:endParaRPr lang="pl-PL" dirty="0">
                  <a:solidFill>
                    <a:schemeClr val="tx1"/>
                  </a:solidFill>
                </a:endParaRPr>
              </a:p>
            </p:txBody>
          </p:sp>
        </mc:Choice>
        <mc:Fallback>
          <p:sp>
            <p:nvSpPr>
              <p:cNvPr id="74" name="Google Shape;74;p16"/>
              <p:cNvSpPr txBox="1">
                <a:spLocks noGrp="1" noRot="1" noChangeAspect="1" noMove="1" noResize="1" noEditPoints="1" noAdjustHandles="1" noChangeArrowheads="1" noChangeShapeType="1" noTextEdit="1"/>
              </p:cNvSpPr>
              <p:nvPr>
                <p:ph type="body" idx="1"/>
              </p:nvPr>
            </p:nvSpPr>
            <p:spPr>
              <a:xfrm>
                <a:off x="311700" y="1152475"/>
                <a:ext cx="8520600" cy="3416400"/>
              </a:xfrm>
              <a:prstGeom prst="rect">
                <a:avLst/>
              </a:prstGeom>
              <a:blipFill>
                <a:blip r:embed="rId3"/>
                <a:stretch>
                  <a:fillRect l="-429"/>
                </a:stretch>
              </a:blipFill>
            </p:spPr>
            <p:txBody>
              <a:bodyPr/>
              <a:lstStyle/>
              <a:p>
                <a:r>
                  <a:rPr lang="en-GB">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a:t>First recommendation model based on Random Walk</a:t>
            </a:r>
            <a:endParaRPr/>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PL">
                <a:solidFill>
                  <a:schemeClr val="tx1"/>
                </a:solidFill>
              </a:rPr>
              <a:t>Heuristically improvised model based on Random Walk:</a:t>
            </a:r>
          </a:p>
          <a:p>
            <a:pPr marL="0" lvl="0" indent="0" algn="l" rtl="0">
              <a:spcBef>
                <a:spcPts val="1200"/>
              </a:spcBef>
              <a:spcAft>
                <a:spcPts val="0"/>
              </a:spcAft>
              <a:buNone/>
            </a:pPr>
            <a:r>
              <a:rPr lang="pl-PL">
                <a:solidFill>
                  <a:schemeClr val="tx1"/>
                </a:solidFill>
              </a:rPr>
              <a:t>Each user goes amount of edges deep through the graph on each step choosing random edge from node. For each game algorithm collects number of times the node has been visited throughout all Random Walk iterations.</a:t>
            </a:r>
          </a:p>
          <a:p>
            <a:pPr marL="0" lvl="0" indent="0" algn="l" rtl="0">
              <a:spcBef>
                <a:spcPts val="1200"/>
              </a:spcBef>
              <a:spcAft>
                <a:spcPts val="1200"/>
              </a:spcAft>
              <a:buNone/>
            </a:pPr>
            <a:r>
              <a:rPr lang="pl-PL">
                <a:solidFill>
                  <a:schemeClr val="tx1"/>
                </a:solidFill>
              </a:rPr>
              <a:t>After the model training, for each user there are all games visited by algorithm starting from him, with number of times they were visited.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pl-PL" sz="2600"/>
              <a:t>Random Walk model</a:t>
            </a:r>
          </a:p>
        </p:txBody>
      </p:sp>
      <p:sp>
        <p:nvSpPr>
          <p:cNvPr id="86" name="Google Shape;86;p18"/>
          <p:cNvSpPr txBox="1">
            <a:spLocks noGrp="1"/>
          </p:cNvSpPr>
          <p:nvPr>
            <p:ph type="body" idx="4294967295"/>
          </p:nvPr>
        </p:nvSpPr>
        <p:spPr>
          <a:xfrm>
            <a:off x="311700" y="1208225"/>
            <a:ext cx="2630467" cy="3264408"/>
          </a:xfrm>
        </p:spPr>
        <p:txBody>
          <a:bodyPr spcFirstLastPara="1" lIns="91425" tIns="91425" rIns="91425" bIns="91425" anchor="t" anchorCtr="0">
            <a:normAutofit/>
          </a:bodyPr>
          <a:lstStyle/>
          <a:p>
            <a:pPr marL="0" indent="0">
              <a:spcAft>
                <a:spcPts val="600"/>
              </a:spcAft>
              <a:buClr>
                <a:srgbClr val="000000"/>
              </a:buClr>
              <a:buNone/>
            </a:pPr>
            <a:endParaRPr lang="en-US">
              <a:solidFill>
                <a:schemeClr val="dk1"/>
              </a:solidFill>
            </a:endParaRPr>
          </a:p>
          <a:p>
            <a:pPr marL="0" indent="0">
              <a:lnSpc>
                <a:spcPct val="114999"/>
              </a:lnSpc>
              <a:spcAft>
                <a:spcPts val="600"/>
              </a:spcAft>
              <a:buNone/>
            </a:pPr>
            <a:r>
              <a:rPr lang="en-US" b="0" i="0" u="none" strike="noStrike" cap="none">
                <a:solidFill>
                  <a:schemeClr val="dk1"/>
                </a:solidFill>
              </a:rPr>
              <a:t>Tested multiple different variations of hyperparameters (depth, iterations) and their results for all mentioned metrics</a:t>
            </a:r>
            <a:r>
              <a:rPr lang="en-US">
                <a:solidFill>
                  <a:schemeClr val="dk1"/>
                </a:solidFill>
              </a:rPr>
              <a:t>. </a:t>
            </a:r>
          </a:p>
          <a:p>
            <a:pPr marL="0" indent="0">
              <a:lnSpc>
                <a:spcPct val="114999"/>
              </a:lnSpc>
              <a:spcAft>
                <a:spcPts val="600"/>
              </a:spcAft>
              <a:buNone/>
            </a:pPr>
            <a:endParaRPr lang="en-US" b="0" i="0" u="none" strike="noStrike" cap="none">
              <a:solidFill>
                <a:schemeClr val="dk1"/>
              </a:solidFill>
            </a:endParaRPr>
          </a:p>
          <a:p>
            <a:pPr marL="0" lvl="0" indent="0">
              <a:spcAft>
                <a:spcPts val="600"/>
              </a:spcAft>
              <a:buClr>
                <a:srgbClr val="000000"/>
              </a:buClr>
              <a:buFont typeface="Arial"/>
              <a:buNone/>
            </a:pPr>
            <a:endParaRPr lang="en-US" b="0" i="0" u="none" strike="noStrike" cap="none">
              <a:solidFill>
                <a:schemeClr val="dk1"/>
              </a:solidFill>
            </a:endParaRPr>
          </a:p>
          <a:p>
            <a:pPr marL="0" indent="0">
              <a:spcAft>
                <a:spcPts val="600"/>
              </a:spcAft>
              <a:buClr>
                <a:srgbClr val="000000"/>
              </a:buClr>
              <a:buNone/>
            </a:pPr>
            <a:endParaRPr lang="en-US">
              <a:solidFill>
                <a:schemeClr val="dk1"/>
              </a:solidFill>
            </a:endParaRPr>
          </a:p>
        </p:txBody>
      </p:sp>
      <p:pic>
        <p:nvPicPr>
          <p:cNvPr id="2" name="Obraz 1">
            <a:extLst>
              <a:ext uri="{FF2B5EF4-FFF2-40B4-BE49-F238E27FC236}">
                <a16:creationId xmlns:a16="http://schemas.microsoft.com/office/drawing/2014/main" id="{E9F1F7A3-EC83-9FB6-77A4-23AD9118A676}"/>
              </a:ext>
            </a:extLst>
          </p:cNvPr>
          <p:cNvPicPr>
            <a:picLocks noChangeAspect="1"/>
          </p:cNvPicPr>
          <p:nvPr/>
        </p:nvPicPr>
        <p:blipFill>
          <a:blip r:embed="rId3"/>
          <a:srcRect l="-278" t="147" r="-1101" b="-147"/>
          <a:stretch/>
        </p:blipFill>
        <p:spPr>
          <a:xfrm>
            <a:off x="3005668" y="1123558"/>
            <a:ext cx="5874934" cy="36454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34B059-B09D-FB38-626B-813A9768456F}"/>
              </a:ext>
            </a:extLst>
          </p:cNvPr>
          <p:cNvSpPr>
            <a:spLocks noGrp="1"/>
          </p:cNvSpPr>
          <p:nvPr>
            <p:ph type="title"/>
          </p:nvPr>
        </p:nvSpPr>
        <p:spPr/>
        <p:txBody>
          <a:bodyPr>
            <a:normAutofit fontScale="90000"/>
          </a:bodyPr>
          <a:lstStyle/>
          <a:p>
            <a:r>
              <a:rPr lang="pl-PL" err="1"/>
              <a:t>Cleora</a:t>
            </a:r>
            <a:r>
              <a:rPr lang="pl-PL"/>
              <a:t> </a:t>
            </a:r>
            <a:r>
              <a:rPr lang="pl-PL" err="1"/>
              <a:t>embedding</a:t>
            </a:r>
            <a:endParaRPr lang="en-GB"/>
          </a:p>
        </p:txBody>
      </p:sp>
      <p:sp>
        <p:nvSpPr>
          <p:cNvPr id="3" name="Symbol zastępczy tekstu 2">
            <a:extLst>
              <a:ext uri="{FF2B5EF4-FFF2-40B4-BE49-F238E27FC236}">
                <a16:creationId xmlns:a16="http://schemas.microsoft.com/office/drawing/2014/main" id="{48481F97-E913-B115-9C1B-A71742856A54}"/>
              </a:ext>
            </a:extLst>
          </p:cNvPr>
          <p:cNvSpPr>
            <a:spLocks noGrp="1"/>
          </p:cNvSpPr>
          <p:nvPr>
            <p:ph type="body" idx="1"/>
          </p:nvPr>
        </p:nvSpPr>
        <p:spPr/>
        <p:txBody>
          <a:bodyPr/>
          <a:lstStyle/>
          <a:p>
            <a:pPr marL="114300" indent="0">
              <a:buNone/>
            </a:pPr>
            <a:r>
              <a:rPr lang="pl-PL" err="1">
                <a:solidFill>
                  <a:schemeClr val="tx1"/>
                </a:solidFill>
              </a:rPr>
              <a:t>Graph</a:t>
            </a:r>
            <a:r>
              <a:rPr lang="pl-PL">
                <a:solidFill>
                  <a:schemeClr val="tx1"/>
                </a:solidFill>
              </a:rPr>
              <a:t> </a:t>
            </a:r>
            <a:r>
              <a:rPr lang="pl-PL" err="1">
                <a:solidFill>
                  <a:schemeClr val="tx1"/>
                </a:solidFill>
              </a:rPr>
              <a:t>is</a:t>
            </a:r>
            <a:r>
              <a:rPr lang="pl-PL">
                <a:solidFill>
                  <a:schemeClr val="tx1"/>
                </a:solidFill>
              </a:rPr>
              <a:t> </a:t>
            </a:r>
            <a:r>
              <a:rPr lang="pl-PL" err="1">
                <a:solidFill>
                  <a:schemeClr val="tx1"/>
                </a:solidFill>
              </a:rPr>
              <a:t>built</a:t>
            </a:r>
            <a:r>
              <a:rPr lang="pl-PL">
                <a:solidFill>
                  <a:schemeClr val="tx1"/>
                </a:solidFill>
              </a:rPr>
              <a:t> as </a:t>
            </a:r>
            <a:r>
              <a:rPr lang="pl-PL" err="1">
                <a:solidFill>
                  <a:schemeClr val="tx1"/>
                </a:solidFill>
              </a:rPr>
              <a:t>explained</a:t>
            </a:r>
            <a:r>
              <a:rPr lang="pl-PL">
                <a:solidFill>
                  <a:schemeClr val="tx1"/>
                </a:solidFill>
              </a:rPr>
              <a:t> </a:t>
            </a:r>
            <a:r>
              <a:rPr lang="pl-PL" err="1">
                <a:solidFill>
                  <a:schemeClr val="tx1"/>
                </a:solidFill>
              </a:rPr>
              <a:t>previously</a:t>
            </a:r>
            <a:r>
              <a:rPr lang="pl-PL">
                <a:solidFill>
                  <a:schemeClr val="tx1"/>
                </a:solidFill>
              </a:rPr>
              <a:t>. </a:t>
            </a:r>
            <a:r>
              <a:rPr lang="pl-PL" err="1">
                <a:solidFill>
                  <a:schemeClr val="tx1"/>
                </a:solidFill>
              </a:rPr>
              <a:t>More</a:t>
            </a:r>
            <a:r>
              <a:rPr lang="pl-PL">
                <a:solidFill>
                  <a:schemeClr val="tx1"/>
                </a:solidFill>
              </a:rPr>
              <a:t> </a:t>
            </a:r>
            <a:r>
              <a:rPr lang="pl-PL" err="1">
                <a:solidFill>
                  <a:schemeClr val="tx1"/>
                </a:solidFill>
              </a:rPr>
              <a:t>precisely</a:t>
            </a:r>
            <a:r>
              <a:rPr lang="pl-PL">
                <a:solidFill>
                  <a:schemeClr val="tx1"/>
                </a:solidFill>
              </a:rPr>
              <a:t> </a:t>
            </a:r>
            <a:r>
              <a:rPr lang="pl-PL" err="1">
                <a:solidFill>
                  <a:schemeClr val="tx1"/>
                </a:solidFill>
              </a:rPr>
              <a:t>it</a:t>
            </a:r>
            <a:r>
              <a:rPr lang="pl-PL">
                <a:solidFill>
                  <a:schemeClr val="tx1"/>
                </a:solidFill>
              </a:rPr>
              <a:t> </a:t>
            </a:r>
            <a:r>
              <a:rPr lang="pl-PL" err="1">
                <a:solidFill>
                  <a:schemeClr val="tx1"/>
                </a:solidFill>
              </a:rPr>
              <a:t>is</a:t>
            </a:r>
            <a:r>
              <a:rPr lang="pl-PL">
                <a:solidFill>
                  <a:schemeClr val="tx1"/>
                </a:solidFill>
              </a:rPr>
              <a:t> a </a:t>
            </a:r>
            <a:r>
              <a:rPr lang="pl-PL" err="1">
                <a:solidFill>
                  <a:schemeClr val="tx1"/>
                </a:solidFill>
              </a:rPr>
              <a:t>biparite</a:t>
            </a:r>
            <a:r>
              <a:rPr lang="pl-PL">
                <a:solidFill>
                  <a:schemeClr val="tx1"/>
                </a:solidFill>
              </a:rPr>
              <a:t> </a:t>
            </a:r>
            <a:r>
              <a:rPr lang="pl-PL" err="1">
                <a:solidFill>
                  <a:schemeClr val="tx1"/>
                </a:solidFill>
              </a:rPr>
              <a:t>graph</a:t>
            </a:r>
            <a:r>
              <a:rPr lang="pl-PL">
                <a:solidFill>
                  <a:schemeClr val="tx1"/>
                </a:solidFill>
              </a:rPr>
              <a:t> </a:t>
            </a:r>
            <a:r>
              <a:rPr lang="pl-PL" err="1">
                <a:solidFill>
                  <a:schemeClr val="tx1"/>
                </a:solidFill>
              </a:rPr>
              <a:t>which</a:t>
            </a:r>
            <a:r>
              <a:rPr lang="pl-PL">
                <a:solidFill>
                  <a:schemeClr val="tx1"/>
                </a:solidFill>
              </a:rPr>
              <a:t> </a:t>
            </a:r>
            <a:r>
              <a:rPr lang="pl-PL" err="1">
                <a:solidFill>
                  <a:schemeClr val="tx1"/>
                </a:solidFill>
              </a:rPr>
              <a:t>is</a:t>
            </a:r>
            <a:r>
              <a:rPr lang="pl-PL">
                <a:solidFill>
                  <a:schemeClr val="tx1"/>
                </a:solidFill>
              </a:rPr>
              <a:t> </a:t>
            </a:r>
            <a:r>
              <a:rPr lang="pl-PL" err="1">
                <a:solidFill>
                  <a:schemeClr val="tx1"/>
                </a:solidFill>
              </a:rPr>
              <a:t>exactly</a:t>
            </a:r>
            <a:r>
              <a:rPr lang="pl-PL">
                <a:solidFill>
                  <a:schemeClr val="tx1"/>
                </a:solidFill>
              </a:rPr>
              <a:t> </a:t>
            </a:r>
            <a:r>
              <a:rPr lang="pl-PL" err="1">
                <a:solidFill>
                  <a:schemeClr val="tx1"/>
                </a:solidFill>
              </a:rPr>
              <a:t>what</a:t>
            </a:r>
            <a:r>
              <a:rPr lang="pl-PL">
                <a:solidFill>
                  <a:schemeClr val="tx1"/>
                </a:solidFill>
              </a:rPr>
              <a:t> </a:t>
            </a:r>
            <a:r>
              <a:rPr lang="pl-PL" err="1">
                <a:solidFill>
                  <a:schemeClr val="tx1"/>
                </a:solidFill>
              </a:rPr>
              <a:t>cleora</a:t>
            </a:r>
            <a:r>
              <a:rPr lang="pl-PL">
                <a:solidFill>
                  <a:schemeClr val="tx1"/>
                </a:solidFill>
              </a:rPr>
              <a:t> </a:t>
            </a:r>
            <a:r>
              <a:rPr lang="pl-PL" err="1">
                <a:solidFill>
                  <a:schemeClr val="tx1"/>
                </a:solidFill>
              </a:rPr>
              <a:t>wants</a:t>
            </a:r>
            <a:r>
              <a:rPr lang="pl-PL">
                <a:solidFill>
                  <a:schemeClr val="tx1"/>
                </a:solidFill>
              </a:rPr>
              <a:t> to </a:t>
            </a:r>
            <a:r>
              <a:rPr lang="pl-PL" err="1">
                <a:solidFill>
                  <a:schemeClr val="tx1"/>
                </a:solidFill>
              </a:rPr>
              <a:t>have</a:t>
            </a:r>
            <a:r>
              <a:rPr lang="pl-PL">
                <a:solidFill>
                  <a:schemeClr val="tx1"/>
                </a:solidFill>
              </a:rPr>
              <a:t> in </a:t>
            </a:r>
            <a:r>
              <a:rPr lang="pl-PL" err="1">
                <a:solidFill>
                  <a:schemeClr val="tx1"/>
                </a:solidFill>
              </a:rPr>
              <a:t>its</a:t>
            </a:r>
            <a:r>
              <a:rPr lang="pl-PL">
                <a:solidFill>
                  <a:schemeClr val="tx1"/>
                </a:solidFill>
              </a:rPr>
              <a:t> </a:t>
            </a:r>
            <a:r>
              <a:rPr lang="pl-PL" err="1">
                <a:solidFill>
                  <a:schemeClr val="tx1"/>
                </a:solidFill>
              </a:rPr>
              <a:t>input</a:t>
            </a:r>
            <a:r>
              <a:rPr lang="pl-PL">
                <a:solidFill>
                  <a:schemeClr val="tx1"/>
                </a:solidFill>
              </a:rPr>
              <a:t> data.</a:t>
            </a:r>
          </a:p>
          <a:p>
            <a:pPr marL="114300" indent="0">
              <a:buNone/>
            </a:pPr>
            <a:endParaRPr lang="pl-PL">
              <a:solidFill>
                <a:schemeClr val="tx1"/>
              </a:solidFill>
            </a:endParaRPr>
          </a:p>
          <a:p>
            <a:pPr marL="114300" indent="0">
              <a:buNone/>
            </a:pPr>
            <a:r>
              <a:rPr lang="pl-PL" err="1">
                <a:solidFill>
                  <a:schemeClr val="tx1"/>
                </a:solidFill>
              </a:rPr>
              <a:t>Cleora</a:t>
            </a:r>
            <a:r>
              <a:rPr lang="pl-PL">
                <a:solidFill>
                  <a:schemeClr val="tx1"/>
                </a:solidFill>
              </a:rPr>
              <a:t> </a:t>
            </a:r>
            <a:r>
              <a:rPr lang="pl-PL" err="1">
                <a:solidFill>
                  <a:schemeClr val="tx1"/>
                </a:solidFill>
              </a:rPr>
              <a:t>product</a:t>
            </a:r>
            <a:r>
              <a:rPr lang="pl-PL">
                <a:solidFill>
                  <a:schemeClr val="tx1"/>
                </a:solidFill>
              </a:rPr>
              <a:t> </a:t>
            </a:r>
            <a:r>
              <a:rPr lang="pl-PL" err="1">
                <a:solidFill>
                  <a:schemeClr val="tx1"/>
                </a:solidFill>
              </a:rPr>
              <a:t>embeddings</a:t>
            </a:r>
            <a:r>
              <a:rPr lang="pl-PL">
                <a:solidFill>
                  <a:schemeClr val="tx1"/>
                </a:solidFill>
              </a:rPr>
              <a:t> </a:t>
            </a:r>
            <a:r>
              <a:rPr lang="pl-PL" err="1">
                <a:solidFill>
                  <a:schemeClr val="tx1"/>
                </a:solidFill>
              </a:rPr>
              <a:t>trained</a:t>
            </a:r>
            <a:r>
              <a:rPr lang="pl-PL">
                <a:solidFill>
                  <a:schemeClr val="tx1"/>
                </a:solidFill>
              </a:rPr>
              <a:t> for 1024 and 4096 </a:t>
            </a:r>
            <a:r>
              <a:rPr lang="pl-PL" err="1">
                <a:solidFill>
                  <a:schemeClr val="tx1"/>
                </a:solidFill>
              </a:rPr>
              <a:t>features</a:t>
            </a:r>
            <a:r>
              <a:rPr lang="pl-PL">
                <a:solidFill>
                  <a:schemeClr val="tx1"/>
                </a:solidFill>
              </a:rPr>
              <a:t> and for </a:t>
            </a:r>
            <a:r>
              <a:rPr lang="pl-PL" err="1">
                <a:solidFill>
                  <a:schemeClr val="tx1"/>
                </a:solidFill>
              </a:rPr>
              <a:t>both</a:t>
            </a:r>
            <a:r>
              <a:rPr lang="pl-PL">
                <a:solidFill>
                  <a:schemeClr val="tx1"/>
                </a:solidFill>
              </a:rPr>
              <a:t> 4 and 5 </a:t>
            </a:r>
            <a:r>
              <a:rPr lang="pl-PL" err="1">
                <a:solidFill>
                  <a:schemeClr val="tx1"/>
                </a:solidFill>
              </a:rPr>
              <a:t>markov</a:t>
            </a:r>
            <a:r>
              <a:rPr lang="pl-PL">
                <a:solidFill>
                  <a:schemeClr val="tx1"/>
                </a:solidFill>
              </a:rPr>
              <a:t> </a:t>
            </a:r>
            <a:r>
              <a:rPr lang="pl-PL" err="1">
                <a:solidFill>
                  <a:schemeClr val="tx1"/>
                </a:solidFill>
              </a:rPr>
              <a:t>propagations</a:t>
            </a:r>
            <a:r>
              <a:rPr lang="pl-PL">
                <a:solidFill>
                  <a:schemeClr val="tx1"/>
                </a:solidFill>
              </a:rPr>
              <a:t>.</a:t>
            </a:r>
          </a:p>
          <a:p>
            <a:pPr marL="114300" indent="0">
              <a:buNone/>
            </a:pPr>
            <a:endParaRPr lang="pl-PL">
              <a:solidFill>
                <a:schemeClr val="tx1"/>
              </a:solidFill>
            </a:endParaRPr>
          </a:p>
          <a:p>
            <a:pPr marL="114300" indent="0">
              <a:buNone/>
            </a:pPr>
            <a:r>
              <a:rPr lang="pl-PL" err="1">
                <a:solidFill>
                  <a:schemeClr val="tx1"/>
                </a:solidFill>
              </a:rPr>
              <a:t>All</a:t>
            </a:r>
            <a:r>
              <a:rPr lang="pl-PL">
                <a:solidFill>
                  <a:schemeClr val="tx1"/>
                </a:solidFill>
              </a:rPr>
              <a:t> 4 </a:t>
            </a:r>
            <a:r>
              <a:rPr lang="pl-PL" err="1">
                <a:solidFill>
                  <a:schemeClr val="tx1"/>
                </a:solidFill>
              </a:rPr>
              <a:t>models</a:t>
            </a:r>
            <a:r>
              <a:rPr lang="pl-PL">
                <a:solidFill>
                  <a:schemeClr val="tx1"/>
                </a:solidFill>
              </a:rPr>
              <a:t> </a:t>
            </a:r>
            <a:r>
              <a:rPr lang="pl-PL" err="1">
                <a:solidFill>
                  <a:schemeClr val="tx1"/>
                </a:solidFill>
              </a:rPr>
              <a:t>have</a:t>
            </a:r>
            <a:r>
              <a:rPr lang="pl-PL">
                <a:solidFill>
                  <a:schemeClr val="tx1"/>
                </a:solidFill>
              </a:rPr>
              <a:t> </a:t>
            </a:r>
            <a:r>
              <a:rPr lang="pl-PL" err="1">
                <a:solidFill>
                  <a:schemeClr val="tx1"/>
                </a:solidFill>
              </a:rPr>
              <a:t>been</a:t>
            </a:r>
            <a:r>
              <a:rPr lang="pl-PL">
                <a:solidFill>
                  <a:schemeClr val="tx1"/>
                </a:solidFill>
              </a:rPr>
              <a:t> </a:t>
            </a:r>
            <a:r>
              <a:rPr lang="pl-PL" err="1">
                <a:solidFill>
                  <a:schemeClr val="tx1"/>
                </a:solidFill>
              </a:rPr>
              <a:t>experimented</a:t>
            </a:r>
            <a:r>
              <a:rPr lang="pl-PL">
                <a:solidFill>
                  <a:schemeClr val="tx1"/>
                </a:solidFill>
              </a:rPr>
              <a:t> </a:t>
            </a:r>
            <a:r>
              <a:rPr lang="pl-PL" err="1">
                <a:solidFill>
                  <a:schemeClr val="tx1"/>
                </a:solidFill>
              </a:rPr>
              <a:t>later</a:t>
            </a:r>
            <a:r>
              <a:rPr lang="pl-PL">
                <a:solidFill>
                  <a:schemeClr val="tx1"/>
                </a:solidFill>
              </a:rPr>
              <a:t> in </a:t>
            </a:r>
            <a:r>
              <a:rPr lang="pl-PL" err="1">
                <a:solidFill>
                  <a:schemeClr val="tx1"/>
                </a:solidFill>
              </a:rPr>
              <a:t>testing</a:t>
            </a:r>
            <a:r>
              <a:rPr lang="pl-PL">
                <a:solidFill>
                  <a:schemeClr val="tx1"/>
                </a:solidFill>
              </a:rPr>
              <a:t> </a:t>
            </a:r>
            <a:r>
              <a:rPr lang="pl-PL" err="1">
                <a:solidFill>
                  <a:schemeClr val="tx1"/>
                </a:solidFill>
              </a:rPr>
              <a:t>phase</a:t>
            </a:r>
            <a:r>
              <a:rPr lang="pl-PL">
                <a:solidFill>
                  <a:schemeClr val="tx1"/>
                </a:solidFill>
              </a:rPr>
              <a:t>.</a:t>
            </a:r>
          </a:p>
        </p:txBody>
      </p:sp>
    </p:spTree>
    <p:extLst>
      <p:ext uri="{BB962C8B-B14F-4D97-AF65-F5344CB8AC3E}">
        <p14:creationId xmlns:p14="http://schemas.microsoft.com/office/powerpoint/2010/main" val="1464501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3977B70-DE3D-34B5-F73C-284116EDCE11}"/>
              </a:ext>
            </a:extLst>
          </p:cNvPr>
          <p:cNvSpPr>
            <a:spLocks noGrp="1"/>
          </p:cNvSpPr>
          <p:nvPr>
            <p:ph type="title"/>
          </p:nvPr>
        </p:nvSpPr>
        <p:spPr/>
        <p:txBody>
          <a:bodyPr>
            <a:normAutofit/>
          </a:bodyPr>
          <a:lstStyle/>
          <a:p>
            <a:r>
              <a:rPr lang="pl-PL" err="1"/>
              <a:t>Cleora</a:t>
            </a:r>
            <a:r>
              <a:rPr lang="pl-PL"/>
              <a:t> Architecture</a:t>
            </a:r>
          </a:p>
        </p:txBody>
      </p:sp>
      <p:sp>
        <p:nvSpPr>
          <p:cNvPr id="3" name="Symbol zastępczy tekstu 2">
            <a:extLst>
              <a:ext uri="{FF2B5EF4-FFF2-40B4-BE49-F238E27FC236}">
                <a16:creationId xmlns:a16="http://schemas.microsoft.com/office/drawing/2014/main" id="{8960D737-4011-B63F-7719-1819E5DE721E}"/>
              </a:ext>
            </a:extLst>
          </p:cNvPr>
          <p:cNvSpPr>
            <a:spLocks noGrp="1"/>
          </p:cNvSpPr>
          <p:nvPr>
            <p:ph type="body" idx="1"/>
          </p:nvPr>
        </p:nvSpPr>
        <p:spPr/>
        <p:txBody>
          <a:bodyPr>
            <a:normAutofit fontScale="92500"/>
          </a:bodyPr>
          <a:lstStyle/>
          <a:p>
            <a:pPr>
              <a:buFontTx/>
              <a:buChar char="-"/>
            </a:pPr>
            <a:r>
              <a:rPr lang="pl-PL" err="1">
                <a:solidFill>
                  <a:schemeClr val="bg2">
                    <a:lumMod val="10000"/>
                    <a:lumOff val="90000"/>
                  </a:schemeClr>
                </a:solidFill>
              </a:rPr>
              <a:t>Given</a:t>
            </a:r>
            <a:r>
              <a:rPr lang="pl-PL">
                <a:solidFill>
                  <a:schemeClr val="bg2">
                    <a:lumMod val="10000"/>
                    <a:lumOff val="90000"/>
                  </a:schemeClr>
                </a:solidFill>
              </a:rPr>
              <a:t> </a:t>
            </a:r>
            <a:r>
              <a:rPr lang="pl-PL" err="1">
                <a:solidFill>
                  <a:schemeClr val="bg2">
                    <a:lumMod val="10000"/>
                    <a:lumOff val="90000"/>
                  </a:schemeClr>
                </a:solidFill>
              </a:rPr>
              <a:t>input</a:t>
            </a:r>
            <a:r>
              <a:rPr lang="pl-PL">
                <a:solidFill>
                  <a:schemeClr val="bg2">
                    <a:lumMod val="10000"/>
                    <a:lumOff val="90000"/>
                  </a:schemeClr>
                </a:solidFill>
              </a:rPr>
              <a:t> </a:t>
            </a:r>
            <a:r>
              <a:rPr lang="pl-PL" err="1">
                <a:solidFill>
                  <a:schemeClr val="bg2">
                    <a:lumMod val="10000"/>
                    <a:lumOff val="90000"/>
                  </a:schemeClr>
                </a:solidFill>
              </a:rPr>
              <a:t>create</a:t>
            </a:r>
            <a:r>
              <a:rPr lang="pl-PL">
                <a:solidFill>
                  <a:schemeClr val="bg2">
                    <a:lumMod val="10000"/>
                    <a:lumOff val="90000"/>
                  </a:schemeClr>
                </a:solidFill>
              </a:rPr>
              <a:t> </a:t>
            </a:r>
            <a:r>
              <a:rPr lang="pl-PL" err="1">
                <a:solidFill>
                  <a:schemeClr val="bg2">
                    <a:lumMod val="10000"/>
                    <a:lumOff val="90000"/>
                  </a:schemeClr>
                </a:solidFill>
              </a:rPr>
              <a:t>first</a:t>
            </a:r>
            <a:r>
              <a:rPr lang="pl-PL">
                <a:solidFill>
                  <a:schemeClr val="bg2">
                    <a:lumMod val="10000"/>
                    <a:lumOff val="90000"/>
                  </a:schemeClr>
                </a:solidFill>
              </a:rPr>
              <a:t> matrix P </a:t>
            </a:r>
            <a:r>
              <a:rPr lang="pl-PL" err="1">
                <a:solidFill>
                  <a:schemeClr val="bg2">
                    <a:lumMod val="10000"/>
                    <a:lumOff val="90000"/>
                  </a:schemeClr>
                </a:solidFill>
              </a:rPr>
              <a:t>which</a:t>
            </a:r>
            <a:r>
              <a:rPr lang="pl-PL">
                <a:solidFill>
                  <a:schemeClr val="bg2">
                    <a:lumMod val="10000"/>
                    <a:lumOff val="90000"/>
                  </a:schemeClr>
                </a:solidFill>
              </a:rPr>
              <a:t> </a:t>
            </a:r>
            <a:r>
              <a:rPr lang="pl-PL" err="1">
                <a:solidFill>
                  <a:schemeClr val="bg2">
                    <a:lumMod val="10000"/>
                    <a:lumOff val="90000"/>
                  </a:schemeClr>
                </a:solidFill>
              </a:rPr>
              <a:t>is</a:t>
            </a:r>
            <a:r>
              <a:rPr lang="pl-PL">
                <a:solidFill>
                  <a:schemeClr val="bg2">
                    <a:lumMod val="10000"/>
                    <a:lumOff val="90000"/>
                  </a:schemeClr>
                </a:solidFill>
              </a:rPr>
              <a:t> </a:t>
            </a:r>
            <a:r>
              <a:rPr lang="pl-PL" err="1">
                <a:solidFill>
                  <a:schemeClr val="bg2">
                    <a:lumMod val="10000"/>
                    <a:lumOff val="90000"/>
                  </a:schemeClr>
                </a:solidFill>
              </a:rPr>
              <a:t>specified</a:t>
            </a:r>
            <a:r>
              <a:rPr lang="pl-PL">
                <a:solidFill>
                  <a:schemeClr val="bg2">
                    <a:lumMod val="10000"/>
                    <a:lumOff val="90000"/>
                  </a:schemeClr>
                </a:solidFill>
              </a:rPr>
              <a:t> by </a:t>
            </a:r>
            <a:r>
              <a:rPr lang="pl-PL" err="1">
                <a:solidFill>
                  <a:schemeClr val="bg2">
                    <a:lumMod val="10000"/>
                    <a:lumOff val="90000"/>
                  </a:schemeClr>
                </a:solidFill>
              </a:rPr>
              <a:t>user</a:t>
            </a:r>
            <a:r>
              <a:rPr lang="pl-PL">
                <a:solidFill>
                  <a:schemeClr val="bg2">
                    <a:lumMod val="10000"/>
                    <a:lumOff val="90000"/>
                  </a:schemeClr>
                </a:solidFill>
              </a:rPr>
              <a:t> </a:t>
            </a:r>
            <a:r>
              <a:rPr lang="pl-PL" err="1">
                <a:solidFill>
                  <a:schemeClr val="bg2">
                    <a:lumMod val="10000"/>
                    <a:lumOff val="90000"/>
                  </a:schemeClr>
                </a:solidFill>
              </a:rPr>
              <a:t>commands</a:t>
            </a:r>
            <a:endParaRPr lang="pl-PL">
              <a:solidFill>
                <a:schemeClr val="bg2">
                  <a:lumMod val="10000"/>
                  <a:lumOff val="90000"/>
                </a:schemeClr>
              </a:solidFill>
            </a:endParaRPr>
          </a:p>
          <a:p>
            <a:pPr>
              <a:buFontTx/>
              <a:buChar char="-"/>
            </a:pPr>
            <a:r>
              <a:rPr lang="pl-PL" err="1">
                <a:solidFill>
                  <a:schemeClr val="bg2">
                    <a:lumMod val="10000"/>
                    <a:lumOff val="90000"/>
                  </a:schemeClr>
                </a:solidFill>
              </a:rPr>
              <a:t>Later</a:t>
            </a:r>
            <a:r>
              <a:rPr lang="pl-PL">
                <a:solidFill>
                  <a:schemeClr val="bg2">
                    <a:lumMod val="10000"/>
                    <a:lumOff val="90000"/>
                  </a:schemeClr>
                </a:solidFill>
              </a:rPr>
              <a:t> for </a:t>
            </a:r>
            <a:r>
              <a:rPr lang="pl-PL" err="1">
                <a:solidFill>
                  <a:schemeClr val="bg2">
                    <a:lumMod val="10000"/>
                    <a:lumOff val="90000"/>
                  </a:schemeClr>
                </a:solidFill>
              </a:rPr>
              <a:t>each</a:t>
            </a:r>
            <a:r>
              <a:rPr lang="pl-PL">
                <a:solidFill>
                  <a:schemeClr val="bg2">
                    <a:lumMod val="10000"/>
                    <a:lumOff val="90000"/>
                  </a:schemeClr>
                </a:solidFill>
              </a:rPr>
              <a:t> relations </a:t>
            </a:r>
            <a:r>
              <a:rPr lang="pl-PL" err="1">
                <a:solidFill>
                  <a:schemeClr val="bg2">
                    <a:lumMod val="10000"/>
                    <a:lumOff val="90000"/>
                  </a:schemeClr>
                </a:solidFill>
              </a:rPr>
              <a:t>pair</a:t>
            </a:r>
            <a:r>
              <a:rPr lang="pl-PL">
                <a:solidFill>
                  <a:schemeClr val="bg2">
                    <a:lumMod val="10000"/>
                    <a:lumOff val="90000"/>
                  </a:schemeClr>
                </a:solidFill>
              </a:rPr>
              <a:t> </a:t>
            </a:r>
            <a:r>
              <a:rPr lang="pl-PL" err="1">
                <a:solidFill>
                  <a:schemeClr val="bg2">
                    <a:lumMod val="10000"/>
                    <a:lumOff val="90000"/>
                  </a:schemeClr>
                </a:solidFill>
              </a:rPr>
              <a:t>requested</a:t>
            </a:r>
            <a:r>
              <a:rPr lang="pl-PL">
                <a:solidFill>
                  <a:schemeClr val="bg2">
                    <a:lumMod val="10000"/>
                    <a:lumOff val="90000"/>
                  </a:schemeClr>
                </a:solidFill>
              </a:rPr>
              <a:t> by </a:t>
            </a:r>
            <a:r>
              <a:rPr lang="pl-PL" err="1">
                <a:solidFill>
                  <a:schemeClr val="bg2">
                    <a:lumMod val="10000"/>
                    <a:lumOff val="90000"/>
                  </a:schemeClr>
                </a:solidFill>
              </a:rPr>
              <a:t>user</a:t>
            </a:r>
            <a:r>
              <a:rPr lang="pl-PL">
                <a:solidFill>
                  <a:schemeClr val="bg2">
                    <a:lumMod val="10000"/>
                    <a:lumOff val="90000"/>
                  </a:schemeClr>
                </a:solidFill>
              </a:rPr>
              <a:t> </a:t>
            </a:r>
            <a:r>
              <a:rPr lang="pl-PL" err="1">
                <a:solidFill>
                  <a:schemeClr val="bg2">
                    <a:lumMod val="10000"/>
                    <a:lumOff val="90000"/>
                  </a:schemeClr>
                </a:solidFill>
              </a:rPr>
              <a:t>seperate</a:t>
            </a:r>
            <a:r>
              <a:rPr lang="pl-PL">
                <a:solidFill>
                  <a:schemeClr val="bg2">
                    <a:lumMod val="10000"/>
                    <a:lumOff val="90000"/>
                  </a:schemeClr>
                </a:solidFill>
              </a:rPr>
              <a:t> matrix </a:t>
            </a:r>
            <a:r>
              <a:rPr lang="pl-PL" err="1">
                <a:solidFill>
                  <a:schemeClr val="bg2">
                    <a:lumMod val="10000"/>
                    <a:lumOff val="90000"/>
                  </a:schemeClr>
                </a:solidFill>
              </a:rPr>
              <a:t>is</a:t>
            </a:r>
            <a:r>
              <a:rPr lang="pl-PL">
                <a:solidFill>
                  <a:schemeClr val="bg2">
                    <a:lumMod val="10000"/>
                    <a:lumOff val="90000"/>
                  </a:schemeClr>
                </a:solidFill>
              </a:rPr>
              <a:t> </a:t>
            </a:r>
            <a:r>
              <a:rPr lang="pl-PL" err="1">
                <a:solidFill>
                  <a:schemeClr val="bg2">
                    <a:lumMod val="10000"/>
                    <a:lumOff val="90000"/>
                  </a:schemeClr>
                </a:solidFill>
              </a:rPr>
              <a:t>created</a:t>
            </a:r>
            <a:endParaRPr lang="pl-PL">
              <a:solidFill>
                <a:schemeClr val="bg2">
                  <a:lumMod val="10000"/>
                  <a:lumOff val="90000"/>
                </a:schemeClr>
              </a:solidFill>
            </a:endParaRPr>
          </a:p>
          <a:p>
            <a:pPr>
              <a:buFontTx/>
              <a:buChar char="-"/>
            </a:pPr>
            <a:r>
              <a:rPr lang="pl-PL">
                <a:solidFill>
                  <a:schemeClr val="bg2">
                    <a:lumMod val="10000"/>
                    <a:lumOff val="90000"/>
                  </a:schemeClr>
                </a:solidFill>
              </a:rPr>
              <a:t>Training </a:t>
            </a:r>
            <a:r>
              <a:rPr lang="pl-PL" err="1">
                <a:solidFill>
                  <a:schemeClr val="bg2">
                    <a:lumMod val="10000"/>
                    <a:lumOff val="90000"/>
                  </a:schemeClr>
                </a:solidFill>
              </a:rPr>
              <a:t>is</a:t>
            </a:r>
            <a:r>
              <a:rPr lang="pl-PL">
                <a:solidFill>
                  <a:schemeClr val="bg2">
                    <a:lumMod val="10000"/>
                    <a:lumOff val="90000"/>
                  </a:schemeClr>
                </a:solidFill>
              </a:rPr>
              <a:t> </a:t>
            </a:r>
            <a:r>
              <a:rPr lang="pl-PL" err="1">
                <a:solidFill>
                  <a:schemeClr val="bg2">
                    <a:lumMod val="10000"/>
                    <a:lumOff val="90000"/>
                  </a:schemeClr>
                </a:solidFill>
              </a:rPr>
              <a:t>conducted</a:t>
            </a:r>
            <a:r>
              <a:rPr lang="pl-PL">
                <a:solidFill>
                  <a:schemeClr val="bg2">
                    <a:lumMod val="10000"/>
                    <a:lumOff val="90000"/>
                  </a:schemeClr>
                </a:solidFill>
              </a:rPr>
              <a:t> by </a:t>
            </a:r>
            <a:r>
              <a:rPr lang="pl-PL" err="1">
                <a:solidFill>
                  <a:schemeClr val="bg2">
                    <a:lumMod val="10000"/>
                    <a:lumOff val="90000"/>
                  </a:schemeClr>
                </a:solidFill>
              </a:rPr>
              <a:t>multiplying</a:t>
            </a:r>
            <a:r>
              <a:rPr lang="pl-PL">
                <a:solidFill>
                  <a:schemeClr val="bg2">
                    <a:lumMod val="10000"/>
                    <a:lumOff val="90000"/>
                  </a:schemeClr>
                </a:solidFill>
              </a:rPr>
              <a:t> </a:t>
            </a:r>
            <a:r>
              <a:rPr lang="pl-PL" err="1">
                <a:solidFill>
                  <a:schemeClr val="bg2">
                    <a:lumMod val="10000"/>
                    <a:lumOff val="90000"/>
                  </a:schemeClr>
                </a:solidFill>
              </a:rPr>
              <a:t>each</a:t>
            </a:r>
            <a:r>
              <a:rPr lang="pl-PL">
                <a:solidFill>
                  <a:schemeClr val="bg2">
                    <a:lumMod val="10000"/>
                    <a:lumOff val="90000"/>
                  </a:schemeClr>
                </a:solidFill>
              </a:rPr>
              <a:t> matrix by the </a:t>
            </a:r>
            <a:r>
              <a:rPr lang="pl-PL" err="1">
                <a:solidFill>
                  <a:schemeClr val="bg2">
                    <a:lumMod val="10000"/>
                    <a:lumOff val="90000"/>
                  </a:schemeClr>
                </a:solidFill>
              </a:rPr>
              <a:t>embedding</a:t>
            </a:r>
            <a:r>
              <a:rPr lang="pl-PL">
                <a:solidFill>
                  <a:schemeClr val="bg2">
                    <a:lumMod val="10000"/>
                    <a:lumOff val="90000"/>
                  </a:schemeClr>
                </a:solidFill>
              </a:rPr>
              <a:t> matrix </a:t>
            </a:r>
            <a:r>
              <a:rPr lang="pl-PL" err="1">
                <a:solidFill>
                  <a:schemeClr val="bg2">
                    <a:lumMod val="10000"/>
                    <a:lumOff val="90000"/>
                  </a:schemeClr>
                </a:solidFill>
              </a:rPr>
              <a:t>consisting</a:t>
            </a:r>
            <a:r>
              <a:rPr lang="pl-PL">
                <a:solidFill>
                  <a:schemeClr val="bg2">
                    <a:lumMod val="10000"/>
                    <a:lumOff val="90000"/>
                  </a:schemeClr>
                </a:solidFill>
              </a:rPr>
              <a:t> of </a:t>
            </a:r>
            <a:r>
              <a:rPr lang="pl-PL" err="1">
                <a:solidFill>
                  <a:schemeClr val="bg2">
                    <a:lumMod val="10000"/>
                    <a:lumOff val="90000"/>
                  </a:schemeClr>
                </a:solidFill>
              </a:rPr>
              <a:t>specified</a:t>
            </a:r>
            <a:r>
              <a:rPr lang="pl-PL">
                <a:solidFill>
                  <a:schemeClr val="bg2">
                    <a:lumMod val="10000"/>
                    <a:lumOff val="90000"/>
                  </a:schemeClr>
                </a:solidFill>
              </a:rPr>
              <a:t> </a:t>
            </a:r>
            <a:r>
              <a:rPr lang="pl-PL" err="1">
                <a:solidFill>
                  <a:schemeClr val="bg2">
                    <a:lumMod val="10000"/>
                    <a:lumOff val="90000"/>
                  </a:schemeClr>
                </a:solidFill>
              </a:rPr>
              <a:t>amount</a:t>
            </a:r>
            <a:r>
              <a:rPr lang="pl-PL">
                <a:solidFill>
                  <a:schemeClr val="bg2">
                    <a:lumMod val="10000"/>
                    <a:lumOff val="90000"/>
                  </a:schemeClr>
                </a:solidFill>
              </a:rPr>
              <a:t> of </a:t>
            </a:r>
            <a:r>
              <a:rPr lang="pl-PL" err="1">
                <a:solidFill>
                  <a:schemeClr val="bg2">
                    <a:lumMod val="10000"/>
                    <a:lumOff val="90000"/>
                  </a:schemeClr>
                </a:solidFill>
              </a:rPr>
              <a:t>features</a:t>
            </a:r>
            <a:endParaRPr lang="pl-PL">
              <a:solidFill>
                <a:schemeClr val="bg2">
                  <a:lumMod val="10000"/>
                  <a:lumOff val="90000"/>
                </a:schemeClr>
              </a:solidFill>
            </a:endParaRPr>
          </a:p>
          <a:p>
            <a:pPr>
              <a:buFontTx/>
              <a:buChar char="-"/>
            </a:pPr>
            <a:r>
              <a:rPr lang="pl-PL">
                <a:solidFill>
                  <a:schemeClr val="bg2">
                    <a:lumMod val="10000"/>
                    <a:lumOff val="90000"/>
                  </a:schemeClr>
                </a:solidFill>
              </a:rPr>
              <a:t>User </a:t>
            </a:r>
            <a:r>
              <a:rPr lang="pl-PL" err="1">
                <a:solidFill>
                  <a:schemeClr val="bg2">
                    <a:lumMod val="10000"/>
                    <a:lumOff val="90000"/>
                  </a:schemeClr>
                </a:solidFill>
              </a:rPr>
              <a:t>specifies</a:t>
            </a:r>
            <a:r>
              <a:rPr lang="pl-PL">
                <a:solidFill>
                  <a:schemeClr val="bg2">
                    <a:lumMod val="10000"/>
                    <a:lumOff val="90000"/>
                  </a:schemeClr>
                </a:solidFill>
              </a:rPr>
              <a:t> </a:t>
            </a:r>
            <a:r>
              <a:rPr lang="pl-PL" err="1">
                <a:solidFill>
                  <a:schemeClr val="bg2">
                    <a:lumMod val="10000"/>
                    <a:lumOff val="90000"/>
                  </a:schemeClr>
                </a:solidFill>
              </a:rPr>
              <a:t>amount</a:t>
            </a:r>
            <a:r>
              <a:rPr lang="pl-PL">
                <a:solidFill>
                  <a:schemeClr val="bg2">
                    <a:lumMod val="10000"/>
                    <a:lumOff val="90000"/>
                  </a:schemeClr>
                </a:solidFill>
              </a:rPr>
              <a:t> of </a:t>
            </a:r>
            <a:r>
              <a:rPr lang="pl-PL" err="1">
                <a:solidFill>
                  <a:schemeClr val="bg2">
                    <a:lumMod val="10000"/>
                    <a:lumOff val="90000"/>
                  </a:schemeClr>
                </a:solidFill>
              </a:rPr>
              <a:t>total</a:t>
            </a:r>
            <a:r>
              <a:rPr lang="pl-PL">
                <a:solidFill>
                  <a:schemeClr val="bg2">
                    <a:lumMod val="10000"/>
                    <a:lumOff val="90000"/>
                  </a:schemeClr>
                </a:solidFill>
              </a:rPr>
              <a:t> </a:t>
            </a:r>
            <a:r>
              <a:rPr lang="pl-PL" err="1">
                <a:solidFill>
                  <a:schemeClr val="bg2">
                    <a:lumMod val="10000"/>
                    <a:lumOff val="90000"/>
                  </a:schemeClr>
                </a:solidFill>
              </a:rPr>
              <a:t>multiplications</a:t>
            </a:r>
            <a:r>
              <a:rPr lang="pl-PL">
                <a:solidFill>
                  <a:schemeClr val="bg2">
                    <a:lumMod val="10000"/>
                    <a:lumOff val="90000"/>
                  </a:schemeClr>
                </a:solidFill>
              </a:rPr>
              <a:t> </a:t>
            </a:r>
            <a:r>
              <a:rPr lang="pl-PL" err="1">
                <a:solidFill>
                  <a:schemeClr val="bg2">
                    <a:lumMod val="10000"/>
                    <a:lumOff val="90000"/>
                  </a:schemeClr>
                </a:solidFill>
              </a:rPr>
              <a:t>that</a:t>
            </a:r>
            <a:r>
              <a:rPr lang="pl-PL">
                <a:solidFill>
                  <a:schemeClr val="bg2">
                    <a:lumMod val="10000"/>
                    <a:lumOff val="90000"/>
                  </a:schemeClr>
                </a:solidFill>
              </a:rPr>
              <a:t> </a:t>
            </a:r>
            <a:r>
              <a:rPr lang="pl-PL" err="1">
                <a:solidFill>
                  <a:schemeClr val="bg2">
                    <a:lumMod val="10000"/>
                    <a:lumOff val="90000"/>
                  </a:schemeClr>
                </a:solidFill>
              </a:rPr>
              <a:t>matches</a:t>
            </a:r>
            <a:r>
              <a:rPr lang="pl-PL">
                <a:solidFill>
                  <a:schemeClr val="bg2">
                    <a:lumMod val="10000"/>
                    <a:lumOff val="90000"/>
                  </a:schemeClr>
                </a:solidFill>
              </a:rPr>
              <a:t> </a:t>
            </a:r>
            <a:r>
              <a:rPr lang="pl-PL" err="1">
                <a:solidFill>
                  <a:schemeClr val="bg2">
                    <a:lumMod val="10000"/>
                    <a:lumOff val="90000"/>
                  </a:schemeClr>
                </a:solidFill>
              </a:rPr>
              <a:t>his</a:t>
            </a:r>
            <a:r>
              <a:rPr lang="pl-PL">
                <a:solidFill>
                  <a:schemeClr val="bg2">
                    <a:lumMod val="10000"/>
                    <a:lumOff val="90000"/>
                  </a:schemeClr>
                </a:solidFill>
              </a:rPr>
              <a:t> </a:t>
            </a:r>
            <a:r>
              <a:rPr lang="pl-PL" err="1">
                <a:solidFill>
                  <a:schemeClr val="bg2">
                    <a:lumMod val="10000"/>
                    <a:lumOff val="90000"/>
                  </a:schemeClr>
                </a:solidFill>
              </a:rPr>
              <a:t>demands</a:t>
            </a:r>
            <a:r>
              <a:rPr lang="pl-PL">
                <a:solidFill>
                  <a:schemeClr val="bg2">
                    <a:lumMod val="10000"/>
                    <a:lumOff val="90000"/>
                  </a:schemeClr>
                </a:solidFill>
              </a:rPr>
              <a:t>. Lower </a:t>
            </a:r>
            <a:r>
              <a:rPr lang="pl-PL" err="1">
                <a:solidFill>
                  <a:schemeClr val="bg2">
                    <a:lumMod val="10000"/>
                    <a:lumOff val="90000"/>
                  </a:schemeClr>
                </a:solidFill>
              </a:rPr>
              <a:t>iterations</a:t>
            </a:r>
            <a:r>
              <a:rPr lang="pl-PL">
                <a:solidFill>
                  <a:schemeClr val="bg2">
                    <a:lumMod val="10000"/>
                    <a:lumOff val="90000"/>
                  </a:schemeClr>
                </a:solidFill>
              </a:rPr>
              <a:t> </a:t>
            </a:r>
            <a:r>
              <a:rPr lang="pl-PL" err="1">
                <a:solidFill>
                  <a:schemeClr val="bg2">
                    <a:lumMod val="10000"/>
                    <a:lumOff val="90000"/>
                  </a:schemeClr>
                </a:solidFill>
              </a:rPr>
              <a:t>tend</a:t>
            </a:r>
            <a:r>
              <a:rPr lang="pl-PL">
                <a:solidFill>
                  <a:schemeClr val="bg2">
                    <a:lumMod val="10000"/>
                    <a:lumOff val="90000"/>
                  </a:schemeClr>
                </a:solidFill>
              </a:rPr>
              <a:t> to </a:t>
            </a:r>
            <a:r>
              <a:rPr lang="pl-PL" err="1">
                <a:solidFill>
                  <a:schemeClr val="bg2">
                    <a:lumMod val="10000"/>
                    <a:lumOff val="90000"/>
                  </a:schemeClr>
                </a:solidFill>
              </a:rPr>
              <a:t>approximate</a:t>
            </a:r>
            <a:r>
              <a:rPr lang="pl-PL">
                <a:solidFill>
                  <a:schemeClr val="bg2">
                    <a:lumMod val="10000"/>
                    <a:lumOff val="90000"/>
                  </a:schemeClr>
                </a:solidFill>
              </a:rPr>
              <a:t> the co-</a:t>
            </a:r>
            <a:r>
              <a:rPr lang="pl-PL" err="1">
                <a:solidFill>
                  <a:schemeClr val="bg2">
                    <a:lumMod val="10000"/>
                    <a:lumOff val="90000"/>
                  </a:schemeClr>
                </a:solidFill>
              </a:rPr>
              <a:t>occurance</a:t>
            </a:r>
            <a:r>
              <a:rPr lang="pl-PL">
                <a:solidFill>
                  <a:schemeClr val="bg2">
                    <a:lumMod val="10000"/>
                    <a:lumOff val="90000"/>
                  </a:schemeClr>
                </a:solidFill>
              </a:rPr>
              <a:t>, </a:t>
            </a:r>
            <a:r>
              <a:rPr lang="pl-PL" err="1">
                <a:solidFill>
                  <a:schemeClr val="bg2">
                    <a:lumMod val="10000"/>
                    <a:lumOff val="90000"/>
                  </a:schemeClr>
                </a:solidFill>
              </a:rPr>
              <a:t>higher</a:t>
            </a:r>
            <a:r>
              <a:rPr lang="pl-PL">
                <a:solidFill>
                  <a:schemeClr val="bg2">
                    <a:lumMod val="10000"/>
                    <a:lumOff val="90000"/>
                  </a:schemeClr>
                </a:solidFill>
              </a:rPr>
              <a:t> </a:t>
            </a:r>
            <a:r>
              <a:rPr lang="pl-PL" err="1">
                <a:solidFill>
                  <a:schemeClr val="bg2">
                    <a:lumMod val="10000"/>
                    <a:lumOff val="90000"/>
                  </a:schemeClr>
                </a:solidFill>
              </a:rPr>
              <a:t>give</a:t>
            </a:r>
            <a:r>
              <a:rPr lang="pl-PL">
                <a:solidFill>
                  <a:schemeClr val="bg2">
                    <a:lumMod val="10000"/>
                    <a:lumOff val="90000"/>
                  </a:schemeClr>
                </a:solidFill>
              </a:rPr>
              <a:t> </a:t>
            </a:r>
            <a:r>
              <a:rPr lang="pl-PL" err="1">
                <a:solidFill>
                  <a:schemeClr val="bg2">
                    <a:lumMod val="10000"/>
                    <a:lumOff val="90000"/>
                  </a:schemeClr>
                </a:solidFill>
              </a:rPr>
              <a:t>contextual</a:t>
            </a:r>
            <a:r>
              <a:rPr lang="pl-PL">
                <a:solidFill>
                  <a:schemeClr val="bg2">
                    <a:lumMod val="10000"/>
                    <a:lumOff val="90000"/>
                  </a:schemeClr>
                </a:solidFill>
              </a:rPr>
              <a:t> </a:t>
            </a:r>
            <a:r>
              <a:rPr lang="pl-PL" err="1">
                <a:solidFill>
                  <a:schemeClr val="bg2">
                    <a:lumMod val="10000"/>
                    <a:lumOff val="90000"/>
                  </a:schemeClr>
                </a:solidFill>
              </a:rPr>
              <a:t>similarity</a:t>
            </a:r>
            <a:endParaRPr lang="pl-PL">
              <a:solidFill>
                <a:schemeClr val="bg2">
                  <a:lumMod val="10000"/>
                  <a:lumOff val="90000"/>
                </a:schemeClr>
              </a:solidFill>
            </a:endParaRPr>
          </a:p>
        </p:txBody>
      </p:sp>
      <p:pic>
        <p:nvPicPr>
          <p:cNvPr id="6" name="Obraz 5">
            <a:extLst>
              <a:ext uri="{FF2B5EF4-FFF2-40B4-BE49-F238E27FC236}">
                <a16:creationId xmlns:a16="http://schemas.microsoft.com/office/drawing/2014/main" id="{E9309A28-2304-D0A2-CDA0-FDACF2CC952B}"/>
              </a:ext>
            </a:extLst>
          </p:cNvPr>
          <p:cNvPicPr>
            <a:picLocks noChangeAspect="1"/>
          </p:cNvPicPr>
          <p:nvPr/>
        </p:nvPicPr>
        <p:blipFill>
          <a:blip r:embed="rId2"/>
          <a:stretch>
            <a:fillRect/>
          </a:stretch>
        </p:blipFill>
        <p:spPr>
          <a:xfrm>
            <a:off x="4064160" y="73389"/>
            <a:ext cx="4376812" cy="4996721"/>
          </a:xfrm>
          <a:prstGeom prst="rect">
            <a:avLst/>
          </a:prstGeom>
        </p:spPr>
      </p:pic>
    </p:spTree>
    <p:extLst>
      <p:ext uri="{BB962C8B-B14F-4D97-AF65-F5344CB8AC3E}">
        <p14:creationId xmlns:p14="http://schemas.microsoft.com/office/powerpoint/2010/main" val="2018029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17FE08B-54B2-82CE-9880-D607E674C2AF}"/>
              </a:ext>
            </a:extLst>
          </p:cNvPr>
          <p:cNvSpPr>
            <a:spLocks noGrp="1"/>
          </p:cNvSpPr>
          <p:nvPr>
            <p:ph type="title"/>
          </p:nvPr>
        </p:nvSpPr>
        <p:spPr>
          <a:xfrm>
            <a:off x="311700" y="445025"/>
            <a:ext cx="8520600" cy="572700"/>
          </a:xfrm>
        </p:spPr>
        <p:txBody>
          <a:bodyPr wrap="square" anchor="ctr">
            <a:normAutofit/>
          </a:bodyPr>
          <a:lstStyle/>
          <a:p>
            <a:pPr>
              <a:lnSpc>
                <a:spcPct val="90000"/>
              </a:lnSpc>
            </a:pPr>
            <a:r>
              <a:rPr lang="pl-PL"/>
              <a:t>Random Walk upgraded model</a:t>
            </a:r>
            <a:endParaRPr lang="en-GB"/>
          </a:p>
        </p:txBody>
      </p:sp>
      <p:sp>
        <p:nvSpPr>
          <p:cNvPr id="3" name="Symbol zastępczy tekstu 2">
            <a:extLst>
              <a:ext uri="{FF2B5EF4-FFF2-40B4-BE49-F238E27FC236}">
                <a16:creationId xmlns:a16="http://schemas.microsoft.com/office/drawing/2014/main" id="{76F49436-D6E9-2AD1-423B-879C795CAF6F}"/>
              </a:ext>
            </a:extLst>
          </p:cNvPr>
          <p:cNvSpPr>
            <a:spLocks noGrp="1"/>
          </p:cNvSpPr>
          <p:nvPr>
            <p:ph type="body" idx="4294967295"/>
          </p:nvPr>
        </p:nvSpPr>
        <p:spPr>
          <a:xfrm>
            <a:off x="5836200" y="1152475"/>
            <a:ext cx="2996100" cy="3416400"/>
          </a:xfrm>
        </p:spPr>
        <p:txBody>
          <a:bodyPr anchor="t"/>
          <a:lstStyle/>
          <a:p>
            <a:pPr marL="114300" indent="0">
              <a:spcAft>
                <a:spcPts val="600"/>
              </a:spcAft>
              <a:buClr>
                <a:srgbClr val="000000"/>
              </a:buClr>
              <a:buNone/>
            </a:pPr>
            <a:r>
              <a:rPr lang="en-US" b="0" i="0" u="none" strike="noStrike" cap="none">
                <a:solidFill>
                  <a:schemeClr val="dk1"/>
                </a:solidFill>
              </a:rPr>
              <a:t>Hybrid based on Random Walk with Cleora embeddings for products instead of incrementing them. All game propositions for user are kept by the similarity between the game and the</a:t>
            </a:r>
            <a:r>
              <a:rPr lang="en-US">
                <a:solidFill>
                  <a:schemeClr val="dk1"/>
                </a:solidFill>
              </a:rPr>
              <a:t> closest</a:t>
            </a:r>
            <a:r>
              <a:rPr lang="en-US" b="0" i="0" u="none" strike="noStrike" cap="none">
                <a:solidFill>
                  <a:schemeClr val="dk1"/>
                </a:solidFill>
              </a:rPr>
              <a:t> game the user has recommended.</a:t>
            </a:r>
          </a:p>
        </p:txBody>
      </p:sp>
      <p:pic>
        <p:nvPicPr>
          <p:cNvPr id="5" name="Obraz 4" descr="Obraz zawierający tekst, zrzut ekranu, diagram, linia&#10;&#10;Zawartość wygenerowana przez sztuczną inteligencję może być niepoprawna.">
            <a:extLst>
              <a:ext uri="{FF2B5EF4-FFF2-40B4-BE49-F238E27FC236}">
                <a16:creationId xmlns:a16="http://schemas.microsoft.com/office/drawing/2014/main" id="{71B6BD59-00D8-C043-72AB-EDFFF2E105A5}"/>
              </a:ext>
            </a:extLst>
          </p:cNvPr>
          <p:cNvPicPr>
            <a:picLocks noChangeAspect="1"/>
          </p:cNvPicPr>
          <p:nvPr/>
        </p:nvPicPr>
        <p:blipFill>
          <a:blip r:embed="rId2"/>
          <a:stretch>
            <a:fillRect/>
          </a:stretch>
        </p:blipFill>
        <p:spPr>
          <a:xfrm>
            <a:off x="312160" y="1235927"/>
            <a:ext cx="5443803" cy="3247793"/>
          </a:xfrm>
          <a:prstGeom prst="rect">
            <a:avLst/>
          </a:prstGeom>
        </p:spPr>
      </p:pic>
    </p:spTree>
    <p:extLst>
      <p:ext uri="{BB962C8B-B14F-4D97-AF65-F5344CB8AC3E}">
        <p14:creationId xmlns:p14="http://schemas.microsoft.com/office/powerpoint/2010/main" val="145749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FFEFFCA-2CDE-4805-F86E-41354F67A6E2}"/>
              </a:ext>
            </a:extLst>
          </p:cNvPr>
          <p:cNvSpPr>
            <a:spLocks noGrp="1"/>
          </p:cNvSpPr>
          <p:nvPr>
            <p:ph type="title"/>
          </p:nvPr>
        </p:nvSpPr>
        <p:spPr/>
        <p:txBody>
          <a:bodyPr>
            <a:normAutofit/>
          </a:bodyPr>
          <a:lstStyle/>
          <a:p>
            <a:r>
              <a:rPr lang="pl-PL" sz="2000" err="1"/>
              <a:t>Comparison</a:t>
            </a:r>
            <a:r>
              <a:rPr lang="pl-PL" sz="2000"/>
              <a:t> </a:t>
            </a:r>
            <a:r>
              <a:rPr lang="pl-PL" sz="2000" err="1"/>
              <a:t>between</a:t>
            </a:r>
            <a:r>
              <a:rPr lang="pl-PL" sz="2000"/>
              <a:t> </a:t>
            </a:r>
            <a:r>
              <a:rPr lang="pl-PL" sz="2000" err="1"/>
              <a:t>naive</a:t>
            </a:r>
            <a:r>
              <a:rPr lang="pl-PL" sz="2000"/>
              <a:t> </a:t>
            </a:r>
            <a:r>
              <a:rPr lang="pl-PL" sz="2000" err="1"/>
              <a:t>random</a:t>
            </a:r>
            <a:r>
              <a:rPr lang="pl-PL" sz="2000"/>
              <a:t> walk and </a:t>
            </a:r>
            <a:r>
              <a:rPr lang="pl-PL" sz="2000" err="1"/>
              <a:t>cleora</a:t>
            </a:r>
            <a:r>
              <a:rPr lang="pl-PL" sz="2000"/>
              <a:t> </a:t>
            </a:r>
            <a:r>
              <a:rPr lang="pl-PL" sz="2000" err="1"/>
              <a:t>upgraded</a:t>
            </a:r>
            <a:r>
              <a:rPr lang="pl-PL" sz="2000"/>
              <a:t> version</a:t>
            </a:r>
            <a:endParaRPr lang="en-GB" sz="2000"/>
          </a:p>
        </p:txBody>
      </p:sp>
      <p:pic>
        <p:nvPicPr>
          <p:cNvPr id="1028" name="Picture 4">
            <a:extLst>
              <a:ext uri="{FF2B5EF4-FFF2-40B4-BE49-F238E27FC236}">
                <a16:creationId xmlns:a16="http://schemas.microsoft.com/office/drawing/2014/main" id="{D8876335-3EED-BC8A-C5DA-C18DB2957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4948" y="1129957"/>
            <a:ext cx="6814104" cy="387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541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479BE6-C2FD-267D-634A-21EF0DFE7726}"/>
              </a:ext>
            </a:extLst>
          </p:cNvPr>
          <p:cNvSpPr>
            <a:spLocks noGrp="1"/>
          </p:cNvSpPr>
          <p:nvPr>
            <p:ph type="title"/>
          </p:nvPr>
        </p:nvSpPr>
        <p:spPr/>
        <p:txBody>
          <a:bodyPr>
            <a:normAutofit fontScale="90000"/>
          </a:bodyPr>
          <a:lstStyle/>
          <a:p>
            <a:r>
              <a:rPr lang="pl-PL" err="1"/>
              <a:t>Double</a:t>
            </a:r>
            <a:r>
              <a:rPr lang="pl-PL"/>
              <a:t> </a:t>
            </a:r>
            <a:r>
              <a:rPr lang="pl-PL" err="1"/>
              <a:t>level</a:t>
            </a:r>
            <a:r>
              <a:rPr lang="pl-PL"/>
              <a:t> </a:t>
            </a:r>
            <a:r>
              <a:rPr lang="pl-PL" err="1"/>
              <a:t>Cleora</a:t>
            </a:r>
            <a:r>
              <a:rPr lang="pl-PL"/>
              <a:t> </a:t>
            </a:r>
            <a:r>
              <a:rPr lang="pl-PL" err="1"/>
              <a:t>embedding</a:t>
            </a:r>
          </a:p>
        </p:txBody>
      </p:sp>
      <p:sp>
        <p:nvSpPr>
          <p:cNvPr id="3" name="Symbol zastępczy tekstu 2">
            <a:extLst>
              <a:ext uri="{FF2B5EF4-FFF2-40B4-BE49-F238E27FC236}">
                <a16:creationId xmlns:a16="http://schemas.microsoft.com/office/drawing/2014/main" id="{B8D51D92-D32C-B9B7-30C6-799E83E9F783}"/>
              </a:ext>
            </a:extLst>
          </p:cNvPr>
          <p:cNvSpPr>
            <a:spLocks noGrp="1"/>
          </p:cNvSpPr>
          <p:nvPr>
            <p:ph type="body" idx="1"/>
          </p:nvPr>
        </p:nvSpPr>
        <p:spPr/>
        <p:txBody>
          <a:bodyPr/>
          <a:lstStyle/>
          <a:p>
            <a:pPr marL="114300" indent="0">
              <a:buNone/>
            </a:pPr>
            <a:r>
              <a:rPr lang="pl-PL" dirty="0" err="1">
                <a:solidFill>
                  <a:schemeClr val="bg2">
                    <a:lumMod val="10000"/>
                    <a:lumOff val="90000"/>
                  </a:schemeClr>
                </a:solidFill>
              </a:rPr>
              <a:t>Based</a:t>
            </a:r>
            <a:r>
              <a:rPr lang="pl-PL" dirty="0">
                <a:solidFill>
                  <a:schemeClr val="bg2">
                    <a:lumMod val="10000"/>
                    <a:lumOff val="90000"/>
                  </a:schemeClr>
                </a:solidFill>
              </a:rPr>
              <a:t> </a:t>
            </a:r>
            <a:r>
              <a:rPr lang="pl-PL" dirty="0" err="1">
                <a:solidFill>
                  <a:schemeClr val="bg2">
                    <a:lumMod val="10000"/>
                    <a:lumOff val="90000"/>
                  </a:schemeClr>
                </a:solidFill>
              </a:rPr>
              <a:t>around</a:t>
            </a:r>
            <a:r>
              <a:rPr lang="pl-PL" dirty="0">
                <a:solidFill>
                  <a:schemeClr val="bg2">
                    <a:lumMod val="10000"/>
                    <a:lumOff val="90000"/>
                  </a:schemeClr>
                </a:solidFill>
              </a:rPr>
              <a:t> the </a:t>
            </a:r>
            <a:r>
              <a:rPr lang="pl-PL" dirty="0" err="1">
                <a:solidFill>
                  <a:schemeClr val="bg2">
                    <a:lumMod val="10000"/>
                    <a:lumOff val="90000"/>
                  </a:schemeClr>
                </a:solidFill>
              </a:rPr>
              <a:t>initial</a:t>
            </a:r>
            <a:r>
              <a:rPr lang="pl-PL" dirty="0">
                <a:solidFill>
                  <a:schemeClr val="bg2">
                    <a:lumMod val="10000"/>
                    <a:lumOff val="90000"/>
                  </a:schemeClr>
                </a:solidFill>
              </a:rPr>
              <a:t> </a:t>
            </a:r>
            <a:r>
              <a:rPr lang="pl-PL" dirty="0" err="1">
                <a:solidFill>
                  <a:schemeClr val="bg2">
                    <a:lumMod val="10000"/>
                    <a:lumOff val="90000"/>
                  </a:schemeClr>
                </a:solidFill>
              </a:rPr>
              <a:t>embeddings</a:t>
            </a:r>
            <a:r>
              <a:rPr lang="pl-PL" dirty="0">
                <a:solidFill>
                  <a:schemeClr val="bg2">
                    <a:lumMod val="10000"/>
                    <a:lumOff val="90000"/>
                  </a:schemeClr>
                </a:solidFill>
              </a:rPr>
              <a:t> </a:t>
            </a:r>
            <a:r>
              <a:rPr lang="pl-PL" dirty="0" err="1">
                <a:solidFill>
                  <a:schemeClr val="bg2">
                    <a:lumMod val="10000"/>
                    <a:lumOff val="90000"/>
                  </a:schemeClr>
                </a:solidFill>
              </a:rPr>
              <a:t>calculated</a:t>
            </a:r>
            <a:r>
              <a:rPr lang="pl-PL" dirty="0">
                <a:solidFill>
                  <a:schemeClr val="bg2">
                    <a:lumMod val="10000"/>
                    <a:lumOff val="90000"/>
                  </a:schemeClr>
                </a:solidFill>
              </a:rPr>
              <a:t> </a:t>
            </a:r>
            <a:r>
              <a:rPr lang="pl-PL" dirty="0" err="1">
                <a:solidFill>
                  <a:schemeClr val="bg2">
                    <a:lumMod val="10000"/>
                    <a:lumOff val="90000"/>
                  </a:schemeClr>
                </a:solidFill>
              </a:rPr>
              <a:t>between</a:t>
            </a:r>
            <a:r>
              <a:rPr lang="pl-PL" dirty="0">
                <a:solidFill>
                  <a:schemeClr val="bg2">
                    <a:lumMod val="10000"/>
                    <a:lumOff val="90000"/>
                  </a:schemeClr>
                </a:solidFill>
              </a:rPr>
              <a:t> </a:t>
            </a:r>
            <a:r>
              <a:rPr lang="pl-PL" dirty="0" err="1">
                <a:solidFill>
                  <a:schemeClr val="bg2">
                    <a:lumMod val="10000"/>
                    <a:lumOff val="90000"/>
                  </a:schemeClr>
                </a:solidFill>
              </a:rPr>
              <a:t>apps</a:t>
            </a:r>
            <a:r>
              <a:rPr lang="pl-PL" dirty="0">
                <a:solidFill>
                  <a:schemeClr val="bg2">
                    <a:lumMod val="10000"/>
                    <a:lumOff val="90000"/>
                  </a:schemeClr>
                </a:solidFill>
              </a:rPr>
              <a:t>. </a:t>
            </a:r>
            <a:r>
              <a:rPr lang="pl-PL" dirty="0" err="1">
                <a:solidFill>
                  <a:schemeClr val="bg2">
                    <a:lumMod val="10000"/>
                    <a:lumOff val="90000"/>
                  </a:schemeClr>
                </a:solidFill>
              </a:rPr>
              <a:t>Now</a:t>
            </a:r>
            <a:r>
              <a:rPr lang="pl-PL" dirty="0">
                <a:solidFill>
                  <a:schemeClr val="bg2">
                    <a:lumMod val="10000"/>
                    <a:lumOff val="90000"/>
                  </a:schemeClr>
                </a:solidFill>
              </a:rPr>
              <a:t> the </a:t>
            </a:r>
            <a:r>
              <a:rPr lang="pl-PL" dirty="0" err="1">
                <a:solidFill>
                  <a:schemeClr val="bg2">
                    <a:lumMod val="10000"/>
                    <a:lumOff val="90000"/>
                  </a:schemeClr>
                </a:solidFill>
              </a:rPr>
              <a:t>graph</a:t>
            </a:r>
            <a:r>
              <a:rPr lang="pl-PL" dirty="0">
                <a:solidFill>
                  <a:schemeClr val="bg2">
                    <a:lumMod val="10000"/>
                    <a:lumOff val="90000"/>
                  </a:schemeClr>
                </a:solidFill>
              </a:rPr>
              <a:t> </a:t>
            </a:r>
            <a:r>
              <a:rPr lang="pl-PL" dirty="0" err="1">
                <a:solidFill>
                  <a:schemeClr val="bg2">
                    <a:lumMod val="10000"/>
                    <a:lumOff val="90000"/>
                  </a:schemeClr>
                </a:solidFill>
              </a:rPr>
              <a:t>is</a:t>
            </a:r>
            <a:r>
              <a:rPr lang="pl-PL" dirty="0">
                <a:solidFill>
                  <a:schemeClr val="bg2">
                    <a:lumMod val="10000"/>
                    <a:lumOff val="90000"/>
                  </a:schemeClr>
                </a:solidFill>
              </a:rPr>
              <a:t> </a:t>
            </a:r>
            <a:r>
              <a:rPr lang="pl-PL" dirty="0" err="1">
                <a:solidFill>
                  <a:schemeClr val="bg2">
                    <a:lumMod val="10000"/>
                    <a:lumOff val="90000"/>
                  </a:schemeClr>
                </a:solidFill>
              </a:rPr>
              <a:t>constructed</a:t>
            </a:r>
            <a:r>
              <a:rPr lang="pl-PL" dirty="0">
                <a:solidFill>
                  <a:schemeClr val="bg2">
                    <a:lumMod val="10000"/>
                    <a:lumOff val="90000"/>
                  </a:schemeClr>
                </a:solidFill>
              </a:rPr>
              <a:t> with 2 </a:t>
            </a:r>
            <a:r>
              <a:rPr lang="pl-PL" dirty="0" err="1">
                <a:solidFill>
                  <a:schemeClr val="bg2">
                    <a:lumMod val="10000"/>
                    <a:lumOff val="90000"/>
                  </a:schemeClr>
                </a:solidFill>
              </a:rPr>
              <a:t>types</a:t>
            </a:r>
            <a:r>
              <a:rPr lang="pl-PL" dirty="0">
                <a:solidFill>
                  <a:schemeClr val="bg2">
                    <a:lumMod val="10000"/>
                    <a:lumOff val="90000"/>
                  </a:schemeClr>
                </a:solidFill>
              </a:rPr>
              <a:t> of </a:t>
            </a:r>
            <a:r>
              <a:rPr lang="pl-PL" dirty="0" err="1">
                <a:solidFill>
                  <a:schemeClr val="bg2">
                    <a:lumMod val="10000"/>
                    <a:lumOff val="90000"/>
                  </a:schemeClr>
                </a:solidFill>
              </a:rPr>
              <a:t>edges</a:t>
            </a:r>
            <a:r>
              <a:rPr lang="pl-PL" dirty="0">
                <a:solidFill>
                  <a:schemeClr val="bg2">
                    <a:lumMod val="10000"/>
                    <a:lumOff val="90000"/>
                  </a:schemeClr>
                </a:solidFill>
              </a:rPr>
              <a:t>:</a:t>
            </a:r>
          </a:p>
          <a:p>
            <a:r>
              <a:rPr lang="pl-PL" dirty="0" err="1">
                <a:solidFill>
                  <a:schemeClr val="bg2">
                    <a:lumMod val="10000"/>
                    <a:lumOff val="90000"/>
                  </a:schemeClr>
                </a:solidFill>
              </a:rPr>
              <a:t>user</a:t>
            </a:r>
            <a:r>
              <a:rPr lang="pl-PL" dirty="0">
                <a:solidFill>
                  <a:schemeClr val="bg2">
                    <a:lumMod val="10000"/>
                    <a:lumOff val="90000"/>
                  </a:schemeClr>
                </a:solidFill>
              </a:rPr>
              <a:t> – </a:t>
            </a:r>
            <a:r>
              <a:rPr lang="pl-PL" dirty="0" err="1">
                <a:solidFill>
                  <a:schemeClr val="bg2">
                    <a:lumMod val="10000"/>
                    <a:lumOff val="90000"/>
                  </a:schemeClr>
                </a:solidFill>
              </a:rPr>
              <a:t>app</a:t>
            </a:r>
            <a:r>
              <a:rPr lang="pl-PL" dirty="0">
                <a:solidFill>
                  <a:schemeClr val="bg2">
                    <a:lumMod val="10000"/>
                    <a:lumOff val="90000"/>
                  </a:schemeClr>
                </a:solidFill>
              </a:rPr>
              <a:t> (</a:t>
            </a:r>
            <a:r>
              <a:rPr lang="pl-PL" dirty="0" err="1">
                <a:solidFill>
                  <a:schemeClr val="bg2">
                    <a:lumMod val="10000"/>
                    <a:lumOff val="90000"/>
                  </a:schemeClr>
                </a:solidFill>
              </a:rPr>
              <a:t>initial</a:t>
            </a:r>
            <a:r>
              <a:rPr lang="pl-PL" dirty="0">
                <a:solidFill>
                  <a:schemeClr val="bg2">
                    <a:lumMod val="10000"/>
                    <a:lumOff val="90000"/>
                  </a:schemeClr>
                </a:solidFill>
              </a:rPr>
              <a:t> </a:t>
            </a:r>
            <a:r>
              <a:rPr lang="pl-PL" dirty="0" err="1">
                <a:solidFill>
                  <a:schemeClr val="bg2">
                    <a:lumMod val="10000"/>
                    <a:lumOff val="90000"/>
                  </a:schemeClr>
                </a:solidFill>
              </a:rPr>
              <a:t>edges</a:t>
            </a:r>
            <a:r>
              <a:rPr lang="pl-PL" dirty="0">
                <a:solidFill>
                  <a:schemeClr val="bg2">
                    <a:lumMod val="10000"/>
                    <a:lumOff val="90000"/>
                  </a:schemeClr>
                </a:solidFill>
              </a:rPr>
              <a:t> </a:t>
            </a:r>
            <a:r>
              <a:rPr lang="pl-PL" dirty="0" err="1">
                <a:solidFill>
                  <a:schemeClr val="bg2">
                    <a:lumMod val="10000"/>
                    <a:lumOff val="90000"/>
                  </a:schemeClr>
                </a:solidFill>
              </a:rPr>
              <a:t>based</a:t>
            </a:r>
            <a:r>
              <a:rPr lang="pl-PL" dirty="0">
                <a:solidFill>
                  <a:schemeClr val="bg2">
                    <a:lumMod val="10000"/>
                    <a:lumOff val="90000"/>
                  </a:schemeClr>
                </a:solidFill>
              </a:rPr>
              <a:t> on </a:t>
            </a:r>
            <a:r>
              <a:rPr lang="pl-PL" dirty="0" err="1">
                <a:solidFill>
                  <a:schemeClr val="bg2">
                    <a:lumMod val="10000"/>
                    <a:lumOff val="90000"/>
                  </a:schemeClr>
                </a:solidFill>
              </a:rPr>
              <a:t>recommendations</a:t>
            </a:r>
            <a:r>
              <a:rPr lang="pl-PL" dirty="0">
                <a:solidFill>
                  <a:schemeClr val="bg2">
                    <a:lumMod val="10000"/>
                    <a:lumOff val="90000"/>
                  </a:schemeClr>
                </a:solidFill>
              </a:rPr>
              <a:t>)</a:t>
            </a:r>
          </a:p>
          <a:p>
            <a:r>
              <a:rPr lang="pl-PL" dirty="0" err="1">
                <a:solidFill>
                  <a:schemeClr val="bg2">
                    <a:lumMod val="10000"/>
                    <a:lumOff val="90000"/>
                  </a:schemeClr>
                </a:solidFill>
              </a:rPr>
              <a:t>app</a:t>
            </a:r>
            <a:r>
              <a:rPr lang="pl-PL" dirty="0">
                <a:solidFill>
                  <a:schemeClr val="bg2">
                    <a:lumMod val="10000"/>
                    <a:lumOff val="90000"/>
                  </a:schemeClr>
                </a:solidFill>
              </a:rPr>
              <a:t> – </a:t>
            </a:r>
            <a:r>
              <a:rPr lang="pl-PL" dirty="0" err="1">
                <a:solidFill>
                  <a:schemeClr val="bg2">
                    <a:lumMod val="10000"/>
                    <a:lumOff val="90000"/>
                  </a:schemeClr>
                </a:solidFill>
              </a:rPr>
              <a:t>app</a:t>
            </a:r>
            <a:r>
              <a:rPr lang="pl-PL" dirty="0">
                <a:solidFill>
                  <a:schemeClr val="bg2">
                    <a:lumMod val="10000"/>
                    <a:lumOff val="90000"/>
                  </a:schemeClr>
                </a:solidFill>
              </a:rPr>
              <a:t> (</a:t>
            </a:r>
            <a:r>
              <a:rPr lang="pl-PL" dirty="0" err="1">
                <a:solidFill>
                  <a:schemeClr val="bg2">
                    <a:lumMod val="10000"/>
                    <a:lumOff val="90000"/>
                  </a:schemeClr>
                </a:solidFill>
              </a:rPr>
              <a:t>pairs</a:t>
            </a:r>
            <a:r>
              <a:rPr lang="pl-PL" dirty="0">
                <a:solidFill>
                  <a:schemeClr val="bg2">
                    <a:lumMod val="10000"/>
                    <a:lumOff val="90000"/>
                  </a:schemeClr>
                </a:solidFill>
              </a:rPr>
              <a:t> of most </a:t>
            </a:r>
            <a:r>
              <a:rPr lang="pl-PL" dirty="0" err="1">
                <a:solidFill>
                  <a:schemeClr val="bg2">
                    <a:lumMod val="10000"/>
                    <a:lumOff val="90000"/>
                  </a:schemeClr>
                </a:solidFill>
              </a:rPr>
              <a:t>similar</a:t>
            </a:r>
            <a:r>
              <a:rPr lang="pl-PL" dirty="0">
                <a:solidFill>
                  <a:schemeClr val="bg2">
                    <a:lumMod val="10000"/>
                    <a:lumOff val="90000"/>
                  </a:schemeClr>
                </a:solidFill>
              </a:rPr>
              <a:t> </a:t>
            </a:r>
            <a:r>
              <a:rPr lang="pl-PL" dirty="0" err="1">
                <a:solidFill>
                  <a:schemeClr val="bg2">
                    <a:lumMod val="10000"/>
                    <a:lumOff val="90000"/>
                  </a:schemeClr>
                </a:solidFill>
              </a:rPr>
              <a:t>games</a:t>
            </a:r>
            <a:r>
              <a:rPr lang="pl-PL" dirty="0">
                <a:solidFill>
                  <a:schemeClr val="bg2">
                    <a:lumMod val="10000"/>
                    <a:lumOff val="90000"/>
                  </a:schemeClr>
                </a:solidFill>
              </a:rPr>
              <a:t>)</a:t>
            </a:r>
          </a:p>
          <a:p>
            <a:pPr marL="114300" indent="0">
              <a:buNone/>
            </a:pPr>
            <a:r>
              <a:rPr lang="pl-PL" dirty="0">
                <a:solidFill>
                  <a:schemeClr val="bg2">
                    <a:lumMod val="10000"/>
                    <a:lumOff val="90000"/>
                  </a:schemeClr>
                </a:solidFill>
              </a:rPr>
              <a:t>The </a:t>
            </a:r>
            <a:r>
              <a:rPr lang="pl-PL" dirty="0" err="1">
                <a:solidFill>
                  <a:schemeClr val="bg2">
                    <a:lumMod val="10000"/>
                    <a:lumOff val="90000"/>
                  </a:schemeClr>
                </a:solidFill>
              </a:rPr>
              <a:t>whole</a:t>
            </a:r>
            <a:r>
              <a:rPr lang="pl-PL" dirty="0">
                <a:solidFill>
                  <a:schemeClr val="bg2">
                    <a:lumMod val="10000"/>
                    <a:lumOff val="90000"/>
                  </a:schemeClr>
                </a:solidFill>
              </a:rPr>
              <a:t> </a:t>
            </a:r>
            <a:r>
              <a:rPr lang="pl-PL" dirty="0" err="1">
                <a:solidFill>
                  <a:schemeClr val="bg2">
                    <a:lumMod val="10000"/>
                    <a:lumOff val="90000"/>
                  </a:schemeClr>
                </a:solidFill>
              </a:rPr>
              <a:t>graph</a:t>
            </a:r>
            <a:r>
              <a:rPr lang="pl-PL" dirty="0">
                <a:solidFill>
                  <a:schemeClr val="bg2">
                    <a:lumMod val="10000"/>
                    <a:lumOff val="90000"/>
                  </a:schemeClr>
                </a:solidFill>
              </a:rPr>
              <a:t> </a:t>
            </a:r>
            <a:r>
              <a:rPr lang="pl-PL" dirty="0" err="1">
                <a:solidFill>
                  <a:schemeClr val="bg2">
                    <a:lumMod val="10000"/>
                    <a:lumOff val="90000"/>
                  </a:schemeClr>
                </a:solidFill>
              </a:rPr>
              <a:t>could</a:t>
            </a:r>
            <a:r>
              <a:rPr lang="pl-PL" dirty="0">
                <a:solidFill>
                  <a:schemeClr val="bg2">
                    <a:lumMod val="10000"/>
                    <a:lumOff val="90000"/>
                  </a:schemeClr>
                </a:solidFill>
              </a:rPr>
              <a:t> be </a:t>
            </a:r>
            <a:r>
              <a:rPr lang="pl-PL" dirty="0" err="1">
                <a:solidFill>
                  <a:schemeClr val="bg2">
                    <a:lumMod val="10000"/>
                    <a:lumOff val="90000"/>
                  </a:schemeClr>
                </a:solidFill>
              </a:rPr>
              <a:t>treated</a:t>
            </a:r>
            <a:r>
              <a:rPr lang="pl-PL" dirty="0">
                <a:solidFill>
                  <a:schemeClr val="bg2">
                    <a:lumMod val="10000"/>
                    <a:lumOff val="90000"/>
                  </a:schemeClr>
                </a:solidFill>
              </a:rPr>
              <a:t> as </a:t>
            </a:r>
            <a:r>
              <a:rPr lang="pl-PL" dirty="0" err="1">
                <a:solidFill>
                  <a:schemeClr val="bg2">
                    <a:lumMod val="10000"/>
                    <a:lumOff val="90000"/>
                  </a:schemeClr>
                </a:solidFill>
              </a:rPr>
              <a:t>biparite</a:t>
            </a:r>
            <a:r>
              <a:rPr lang="pl-PL" dirty="0">
                <a:solidFill>
                  <a:schemeClr val="bg2">
                    <a:lumMod val="10000"/>
                    <a:lumOff val="90000"/>
                  </a:schemeClr>
                </a:solidFill>
              </a:rPr>
              <a:t> </a:t>
            </a:r>
            <a:r>
              <a:rPr lang="pl-PL" dirty="0" err="1">
                <a:solidFill>
                  <a:schemeClr val="bg2">
                    <a:lumMod val="10000"/>
                    <a:lumOff val="90000"/>
                  </a:schemeClr>
                </a:solidFill>
              </a:rPr>
              <a:t>graph</a:t>
            </a:r>
            <a:r>
              <a:rPr lang="pl-PL" dirty="0">
                <a:solidFill>
                  <a:schemeClr val="bg2">
                    <a:lumMod val="10000"/>
                    <a:lumOff val="90000"/>
                  </a:schemeClr>
                </a:solidFill>
              </a:rPr>
              <a:t> </a:t>
            </a:r>
            <a:r>
              <a:rPr lang="pl-PL" dirty="0" err="1">
                <a:solidFill>
                  <a:schemeClr val="bg2">
                    <a:lumMod val="10000"/>
                    <a:lumOff val="90000"/>
                  </a:schemeClr>
                </a:solidFill>
              </a:rPr>
              <a:t>having</a:t>
            </a:r>
            <a:r>
              <a:rPr lang="pl-PL" dirty="0">
                <a:solidFill>
                  <a:schemeClr val="bg2">
                    <a:lumMod val="10000"/>
                    <a:lumOff val="90000"/>
                  </a:schemeClr>
                </a:solidFill>
              </a:rPr>
              <a:t> </a:t>
            </a:r>
            <a:r>
              <a:rPr lang="pl-PL" dirty="0" err="1">
                <a:solidFill>
                  <a:schemeClr val="bg2">
                    <a:lumMod val="10000"/>
                    <a:lumOff val="90000"/>
                  </a:schemeClr>
                </a:solidFill>
              </a:rPr>
              <a:t>users</a:t>
            </a:r>
            <a:r>
              <a:rPr lang="pl-PL" dirty="0">
                <a:solidFill>
                  <a:schemeClr val="bg2">
                    <a:lumMod val="10000"/>
                    <a:lumOff val="90000"/>
                  </a:schemeClr>
                </a:solidFill>
              </a:rPr>
              <a:t> and </a:t>
            </a:r>
            <a:r>
              <a:rPr lang="pl-PL" dirty="0" err="1">
                <a:solidFill>
                  <a:schemeClr val="bg2">
                    <a:lumMod val="10000"/>
                    <a:lumOff val="90000"/>
                  </a:schemeClr>
                </a:solidFill>
              </a:rPr>
              <a:t>similar</a:t>
            </a:r>
            <a:r>
              <a:rPr lang="pl-PL" dirty="0">
                <a:solidFill>
                  <a:schemeClr val="bg2">
                    <a:lumMod val="10000"/>
                    <a:lumOff val="90000"/>
                  </a:schemeClr>
                </a:solidFill>
              </a:rPr>
              <a:t> </a:t>
            </a:r>
            <a:r>
              <a:rPr lang="pl-PL" dirty="0" err="1">
                <a:solidFill>
                  <a:schemeClr val="bg2">
                    <a:lumMod val="10000"/>
                    <a:lumOff val="90000"/>
                  </a:schemeClr>
                </a:solidFill>
              </a:rPr>
              <a:t>games</a:t>
            </a:r>
            <a:r>
              <a:rPr lang="pl-PL" dirty="0">
                <a:solidFill>
                  <a:schemeClr val="bg2">
                    <a:lumMod val="10000"/>
                    <a:lumOff val="90000"/>
                  </a:schemeClr>
                </a:solidFill>
              </a:rPr>
              <a:t> in one </a:t>
            </a:r>
            <a:r>
              <a:rPr lang="pl-PL" dirty="0" err="1">
                <a:solidFill>
                  <a:schemeClr val="bg2">
                    <a:lumMod val="10000"/>
                    <a:lumOff val="90000"/>
                  </a:schemeClr>
                </a:solidFill>
              </a:rPr>
              <a:t>column</a:t>
            </a:r>
            <a:r>
              <a:rPr lang="pl-PL" dirty="0">
                <a:solidFill>
                  <a:schemeClr val="bg2">
                    <a:lumMod val="10000"/>
                    <a:lumOff val="90000"/>
                  </a:schemeClr>
                </a:solidFill>
              </a:rPr>
              <a:t> and </a:t>
            </a:r>
            <a:r>
              <a:rPr lang="pl-PL" dirty="0" err="1">
                <a:solidFill>
                  <a:schemeClr val="bg2">
                    <a:lumMod val="10000"/>
                    <a:lumOff val="90000"/>
                  </a:schemeClr>
                </a:solidFill>
              </a:rPr>
              <a:t>games</a:t>
            </a:r>
            <a:r>
              <a:rPr lang="pl-PL" dirty="0">
                <a:solidFill>
                  <a:schemeClr val="bg2">
                    <a:lumMod val="10000"/>
                    <a:lumOff val="90000"/>
                  </a:schemeClr>
                </a:solidFill>
              </a:rPr>
              <a:t> in </a:t>
            </a:r>
            <a:r>
              <a:rPr lang="pl-PL" dirty="0" err="1">
                <a:solidFill>
                  <a:schemeClr val="bg2">
                    <a:lumMod val="10000"/>
                    <a:lumOff val="90000"/>
                  </a:schemeClr>
                </a:solidFill>
              </a:rPr>
              <a:t>between</a:t>
            </a:r>
            <a:r>
              <a:rPr lang="pl-PL" dirty="0">
                <a:solidFill>
                  <a:schemeClr val="bg2">
                    <a:lumMod val="10000"/>
                    <a:lumOff val="90000"/>
                  </a:schemeClr>
                </a:solidFill>
              </a:rPr>
              <a:t> </a:t>
            </a:r>
            <a:r>
              <a:rPr lang="pl-PL" dirty="0" err="1">
                <a:solidFill>
                  <a:schemeClr val="bg2">
                    <a:lumMod val="10000"/>
                    <a:lumOff val="90000"/>
                  </a:schemeClr>
                </a:solidFill>
              </a:rPr>
              <a:t>edges</a:t>
            </a:r>
            <a:r>
              <a:rPr lang="pl-PL" dirty="0">
                <a:solidFill>
                  <a:schemeClr val="bg2">
                    <a:lumMod val="10000"/>
                    <a:lumOff val="90000"/>
                  </a:schemeClr>
                </a:solidFill>
              </a:rPr>
              <a:t> in </a:t>
            </a:r>
            <a:r>
              <a:rPr lang="pl-PL" dirty="0" err="1">
                <a:solidFill>
                  <a:schemeClr val="bg2">
                    <a:lumMod val="10000"/>
                    <a:lumOff val="90000"/>
                  </a:schemeClr>
                </a:solidFill>
              </a:rPr>
              <a:t>other</a:t>
            </a:r>
            <a:r>
              <a:rPr lang="pl-PL" dirty="0">
                <a:solidFill>
                  <a:schemeClr val="bg2">
                    <a:lumMod val="10000"/>
                    <a:lumOff val="90000"/>
                  </a:schemeClr>
                </a:solidFill>
              </a:rPr>
              <a:t> </a:t>
            </a:r>
            <a:r>
              <a:rPr lang="pl-PL" dirty="0" err="1">
                <a:solidFill>
                  <a:schemeClr val="bg2">
                    <a:lumMod val="10000"/>
                    <a:lumOff val="90000"/>
                  </a:schemeClr>
                </a:solidFill>
              </a:rPr>
              <a:t>column</a:t>
            </a:r>
            <a:endParaRPr lang="pl-PL" dirty="0">
              <a:solidFill>
                <a:schemeClr val="bg2">
                  <a:lumMod val="10000"/>
                  <a:lumOff val="90000"/>
                </a:schemeClr>
              </a:solidFill>
            </a:endParaRPr>
          </a:p>
          <a:p>
            <a:pPr marL="114300" indent="0">
              <a:buNone/>
            </a:pPr>
            <a:endParaRPr lang="pl-PL" dirty="0">
              <a:solidFill>
                <a:schemeClr val="bg2">
                  <a:lumMod val="10000"/>
                  <a:lumOff val="90000"/>
                </a:schemeClr>
              </a:solidFill>
            </a:endParaRPr>
          </a:p>
          <a:p>
            <a:pPr marL="114300" indent="0">
              <a:buNone/>
            </a:pPr>
            <a:r>
              <a:rPr lang="pl-PL" dirty="0" err="1">
                <a:solidFill>
                  <a:schemeClr val="bg2">
                    <a:lumMod val="10000"/>
                    <a:lumOff val="90000"/>
                  </a:schemeClr>
                </a:solidFill>
              </a:rPr>
              <a:t>Now</a:t>
            </a:r>
            <a:r>
              <a:rPr lang="pl-PL" dirty="0">
                <a:solidFill>
                  <a:schemeClr val="bg2">
                    <a:lumMod val="10000"/>
                    <a:lumOff val="90000"/>
                  </a:schemeClr>
                </a:solidFill>
              </a:rPr>
              <a:t>, the </a:t>
            </a:r>
            <a:r>
              <a:rPr lang="pl-PL" dirty="0" err="1">
                <a:solidFill>
                  <a:schemeClr val="bg2">
                    <a:lumMod val="10000"/>
                    <a:lumOff val="90000"/>
                  </a:schemeClr>
                </a:solidFill>
              </a:rPr>
              <a:t>graph</a:t>
            </a:r>
            <a:r>
              <a:rPr lang="pl-PL" dirty="0">
                <a:solidFill>
                  <a:schemeClr val="bg2">
                    <a:lumMod val="10000"/>
                    <a:lumOff val="90000"/>
                  </a:schemeClr>
                </a:solidFill>
              </a:rPr>
              <a:t> </a:t>
            </a:r>
            <a:r>
              <a:rPr lang="pl-PL" dirty="0" err="1">
                <a:solidFill>
                  <a:schemeClr val="bg2">
                    <a:lumMod val="10000"/>
                    <a:lumOff val="90000"/>
                  </a:schemeClr>
                </a:solidFill>
              </a:rPr>
              <a:t>is</a:t>
            </a:r>
            <a:r>
              <a:rPr lang="pl-PL" dirty="0">
                <a:solidFill>
                  <a:schemeClr val="bg2">
                    <a:lumMod val="10000"/>
                    <a:lumOff val="90000"/>
                  </a:schemeClr>
                </a:solidFill>
              </a:rPr>
              <a:t> </a:t>
            </a:r>
            <a:r>
              <a:rPr lang="pl-PL" dirty="0" err="1">
                <a:solidFill>
                  <a:schemeClr val="bg2">
                    <a:lumMod val="10000"/>
                    <a:lumOff val="90000"/>
                  </a:schemeClr>
                </a:solidFill>
              </a:rPr>
              <a:t>treated</a:t>
            </a:r>
            <a:r>
              <a:rPr lang="pl-PL" dirty="0">
                <a:solidFill>
                  <a:schemeClr val="bg2">
                    <a:lumMod val="10000"/>
                    <a:lumOff val="90000"/>
                  </a:schemeClr>
                </a:solidFill>
              </a:rPr>
              <a:t> as </a:t>
            </a:r>
            <a:r>
              <a:rPr lang="pl-PL" dirty="0" err="1">
                <a:solidFill>
                  <a:schemeClr val="bg2">
                    <a:lumMod val="10000"/>
                    <a:lumOff val="90000"/>
                  </a:schemeClr>
                </a:solidFill>
              </a:rPr>
              <a:t>input</a:t>
            </a:r>
            <a:r>
              <a:rPr lang="pl-PL" dirty="0">
                <a:solidFill>
                  <a:schemeClr val="bg2">
                    <a:lumMod val="10000"/>
                    <a:lumOff val="90000"/>
                  </a:schemeClr>
                </a:solidFill>
              </a:rPr>
              <a:t> and </a:t>
            </a:r>
            <a:r>
              <a:rPr lang="pl-PL" dirty="0" err="1">
                <a:solidFill>
                  <a:schemeClr val="bg2">
                    <a:lumMod val="10000"/>
                    <a:lumOff val="90000"/>
                  </a:schemeClr>
                </a:solidFill>
              </a:rPr>
              <a:t>fed</a:t>
            </a:r>
            <a:r>
              <a:rPr lang="pl-PL" dirty="0">
                <a:solidFill>
                  <a:schemeClr val="bg2">
                    <a:lumMod val="10000"/>
                    <a:lumOff val="90000"/>
                  </a:schemeClr>
                </a:solidFill>
              </a:rPr>
              <a:t> </a:t>
            </a:r>
            <a:r>
              <a:rPr lang="pl-PL" dirty="0" err="1">
                <a:solidFill>
                  <a:schemeClr val="bg2">
                    <a:lumMod val="10000"/>
                    <a:lumOff val="90000"/>
                  </a:schemeClr>
                </a:solidFill>
              </a:rPr>
              <a:t>into</a:t>
            </a:r>
            <a:r>
              <a:rPr lang="pl-PL" dirty="0">
                <a:solidFill>
                  <a:schemeClr val="bg2">
                    <a:lumMod val="10000"/>
                    <a:lumOff val="90000"/>
                  </a:schemeClr>
                </a:solidFill>
              </a:rPr>
              <a:t> </a:t>
            </a:r>
            <a:r>
              <a:rPr lang="pl-PL" dirty="0" err="1">
                <a:solidFill>
                  <a:schemeClr val="bg2">
                    <a:lumMod val="10000"/>
                    <a:lumOff val="90000"/>
                  </a:schemeClr>
                </a:solidFill>
              </a:rPr>
              <a:t>cleora</a:t>
            </a:r>
            <a:r>
              <a:rPr lang="pl-PL" dirty="0">
                <a:solidFill>
                  <a:schemeClr val="bg2">
                    <a:lumMod val="10000"/>
                    <a:lumOff val="90000"/>
                  </a:schemeClr>
                </a:solidFill>
              </a:rPr>
              <a:t>. </a:t>
            </a:r>
            <a:r>
              <a:rPr lang="pl-PL" dirty="0" err="1">
                <a:solidFill>
                  <a:schemeClr val="bg2">
                    <a:lumMod val="10000"/>
                    <a:lumOff val="90000"/>
                  </a:schemeClr>
                </a:solidFill>
              </a:rPr>
              <a:t>This</a:t>
            </a:r>
            <a:r>
              <a:rPr lang="pl-PL" dirty="0">
                <a:solidFill>
                  <a:schemeClr val="bg2">
                    <a:lumMod val="10000"/>
                    <a:lumOff val="90000"/>
                  </a:schemeClr>
                </a:solidFill>
              </a:rPr>
              <a:t> </a:t>
            </a:r>
            <a:r>
              <a:rPr lang="pl-PL" dirty="0" err="1">
                <a:solidFill>
                  <a:schemeClr val="bg2">
                    <a:lumMod val="10000"/>
                    <a:lumOff val="90000"/>
                  </a:schemeClr>
                </a:solidFill>
              </a:rPr>
              <a:t>should</a:t>
            </a:r>
            <a:r>
              <a:rPr lang="pl-PL" dirty="0">
                <a:solidFill>
                  <a:schemeClr val="bg2">
                    <a:lumMod val="10000"/>
                    <a:lumOff val="90000"/>
                  </a:schemeClr>
                </a:solidFill>
              </a:rPr>
              <a:t> </a:t>
            </a:r>
            <a:r>
              <a:rPr lang="pl-PL" dirty="0" err="1">
                <a:solidFill>
                  <a:schemeClr val="bg2">
                    <a:lumMod val="10000"/>
                    <a:lumOff val="90000"/>
                  </a:schemeClr>
                </a:solidFill>
              </a:rPr>
              <a:t>give</a:t>
            </a:r>
            <a:r>
              <a:rPr lang="pl-PL" dirty="0">
                <a:solidFill>
                  <a:schemeClr val="bg2">
                    <a:lumMod val="10000"/>
                    <a:lumOff val="90000"/>
                  </a:schemeClr>
                </a:solidFill>
              </a:rPr>
              <a:t> </a:t>
            </a:r>
            <a:r>
              <a:rPr lang="pl-PL" dirty="0" err="1">
                <a:solidFill>
                  <a:schemeClr val="bg2">
                    <a:lumMod val="10000"/>
                    <a:lumOff val="90000"/>
                  </a:schemeClr>
                </a:solidFill>
              </a:rPr>
              <a:t>user-user</a:t>
            </a:r>
            <a:r>
              <a:rPr lang="pl-PL" dirty="0">
                <a:solidFill>
                  <a:schemeClr val="bg2">
                    <a:lumMod val="10000"/>
                    <a:lumOff val="90000"/>
                  </a:schemeClr>
                </a:solidFill>
              </a:rPr>
              <a:t> and </a:t>
            </a:r>
            <a:r>
              <a:rPr lang="pl-PL" dirty="0" err="1">
                <a:solidFill>
                  <a:schemeClr val="bg2">
                    <a:lumMod val="10000"/>
                    <a:lumOff val="90000"/>
                  </a:schemeClr>
                </a:solidFill>
              </a:rPr>
              <a:t>product-product</a:t>
            </a:r>
            <a:r>
              <a:rPr lang="pl-PL" dirty="0">
                <a:solidFill>
                  <a:schemeClr val="bg2">
                    <a:lumMod val="10000"/>
                    <a:lumOff val="90000"/>
                  </a:schemeClr>
                </a:solidFill>
              </a:rPr>
              <a:t> </a:t>
            </a:r>
            <a:r>
              <a:rPr lang="pl-PL" dirty="0" err="1">
                <a:solidFill>
                  <a:schemeClr val="bg2">
                    <a:lumMod val="10000"/>
                    <a:lumOff val="90000"/>
                  </a:schemeClr>
                </a:solidFill>
              </a:rPr>
              <a:t>similarities</a:t>
            </a:r>
            <a:r>
              <a:rPr lang="pl-PL" dirty="0">
                <a:solidFill>
                  <a:schemeClr val="bg2">
                    <a:lumMod val="10000"/>
                    <a:lumOff val="90000"/>
                  </a:schemeClr>
                </a:solidFill>
              </a:rPr>
              <a:t> as </a:t>
            </a:r>
            <a:r>
              <a:rPr lang="pl-PL" dirty="0" err="1">
                <a:solidFill>
                  <a:schemeClr val="bg2">
                    <a:lumMod val="10000"/>
                    <a:lumOff val="90000"/>
                  </a:schemeClr>
                </a:solidFill>
              </a:rPr>
              <a:t>well</a:t>
            </a:r>
            <a:r>
              <a:rPr lang="pl-PL" dirty="0">
                <a:solidFill>
                  <a:schemeClr val="bg2">
                    <a:lumMod val="10000"/>
                    <a:lumOff val="90000"/>
                  </a:schemeClr>
                </a:solidFill>
              </a:rPr>
              <a:t> as </a:t>
            </a:r>
            <a:r>
              <a:rPr lang="pl-PL" dirty="0" err="1">
                <a:solidFill>
                  <a:schemeClr val="bg2">
                    <a:lumMod val="10000"/>
                    <a:lumOff val="90000"/>
                  </a:schemeClr>
                </a:solidFill>
              </a:rPr>
              <a:t>user-product</a:t>
            </a:r>
            <a:r>
              <a:rPr lang="pl-PL" dirty="0">
                <a:solidFill>
                  <a:schemeClr val="bg2">
                    <a:lumMod val="10000"/>
                    <a:lumOff val="90000"/>
                  </a:schemeClr>
                </a:solidFill>
              </a:rPr>
              <a:t> </a:t>
            </a:r>
            <a:r>
              <a:rPr lang="pl-PL" dirty="0" err="1">
                <a:solidFill>
                  <a:schemeClr val="bg2">
                    <a:lumMod val="10000"/>
                    <a:lumOff val="90000"/>
                  </a:schemeClr>
                </a:solidFill>
              </a:rPr>
              <a:t>similarities</a:t>
            </a:r>
            <a:r>
              <a:rPr lang="pl-PL" dirty="0">
                <a:solidFill>
                  <a:schemeClr val="bg2">
                    <a:lumMod val="10000"/>
                    <a:lumOff val="90000"/>
                  </a:schemeClr>
                </a:solidFill>
              </a:rPr>
              <a:t> </a:t>
            </a:r>
            <a:r>
              <a:rPr lang="pl-PL" dirty="0" err="1">
                <a:solidFill>
                  <a:schemeClr val="bg2">
                    <a:lumMod val="10000"/>
                    <a:lumOff val="90000"/>
                  </a:schemeClr>
                </a:solidFill>
              </a:rPr>
              <a:t>that</a:t>
            </a:r>
            <a:r>
              <a:rPr lang="pl-PL" dirty="0">
                <a:solidFill>
                  <a:schemeClr val="bg2">
                    <a:lumMod val="10000"/>
                    <a:lumOff val="90000"/>
                  </a:schemeClr>
                </a:solidFill>
              </a:rPr>
              <a:t> </a:t>
            </a:r>
            <a:r>
              <a:rPr lang="pl-PL" dirty="0" err="1">
                <a:solidFill>
                  <a:schemeClr val="bg2">
                    <a:lumMod val="10000"/>
                    <a:lumOff val="90000"/>
                  </a:schemeClr>
                </a:solidFill>
              </a:rPr>
              <a:t>could</a:t>
            </a:r>
            <a:r>
              <a:rPr lang="pl-PL" dirty="0">
                <a:solidFill>
                  <a:schemeClr val="bg2">
                    <a:lumMod val="10000"/>
                    <a:lumOff val="90000"/>
                  </a:schemeClr>
                </a:solidFill>
              </a:rPr>
              <a:t> </a:t>
            </a:r>
            <a:r>
              <a:rPr lang="pl-PL" dirty="0" err="1">
                <a:solidFill>
                  <a:schemeClr val="bg2">
                    <a:lumMod val="10000"/>
                    <a:lumOff val="90000"/>
                  </a:schemeClr>
                </a:solidFill>
              </a:rPr>
              <a:t>potentially</a:t>
            </a:r>
            <a:r>
              <a:rPr lang="pl-PL" dirty="0">
                <a:solidFill>
                  <a:schemeClr val="bg2">
                    <a:lumMod val="10000"/>
                    <a:lumOff val="90000"/>
                  </a:schemeClr>
                </a:solidFill>
              </a:rPr>
              <a:t> be </a:t>
            </a:r>
            <a:r>
              <a:rPr lang="pl-PL" dirty="0" err="1">
                <a:solidFill>
                  <a:schemeClr val="bg2">
                    <a:lumMod val="10000"/>
                    <a:lumOff val="90000"/>
                  </a:schemeClr>
                </a:solidFill>
              </a:rPr>
              <a:t>used</a:t>
            </a:r>
            <a:r>
              <a:rPr lang="pl-PL" dirty="0">
                <a:solidFill>
                  <a:schemeClr val="bg2">
                    <a:lumMod val="10000"/>
                    <a:lumOff val="90000"/>
                  </a:schemeClr>
                </a:solidFill>
              </a:rPr>
              <a:t> in </a:t>
            </a:r>
            <a:r>
              <a:rPr lang="pl-PL" dirty="0" err="1">
                <a:solidFill>
                  <a:schemeClr val="bg2">
                    <a:lumMod val="10000"/>
                    <a:lumOff val="90000"/>
                  </a:schemeClr>
                </a:solidFill>
              </a:rPr>
              <a:t>final</a:t>
            </a:r>
            <a:r>
              <a:rPr lang="pl-PL" dirty="0">
                <a:solidFill>
                  <a:schemeClr val="bg2">
                    <a:lumMod val="10000"/>
                    <a:lumOff val="90000"/>
                  </a:schemeClr>
                </a:solidFill>
              </a:rPr>
              <a:t> </a:t>
            </a:r>
            <a:r>
              <a:rPr lang="pl-PL">
                <a:solidFill>
                  <a:schemeClr val="bg2">
                    <a:lumMod val="10000"/>
                    <a:lumOff val="90000"/>
                  </a:schemeClr>
                </a:solidFill>
              </a:rPr>
              <a:t>model.</a:t>
            </a:r>
            <a:endParaRPr lang="pl-PL" dirty="0">
              <a:solidFill>
                <a:schemeClr val="bg2">
                  <a:lumMod val="10000"/>
                  <a:lumOff val="90000"/>
                </a:schemeClr>
              </a:solidFill>
            </a:endParaRPr>
          </a:p>
        </p:txBody>
      </p:sp>
    </p:spTree>
    <p:extLst>
      <p:ext uri="{BB962C8B-B14F-4D97-AF65-F5344CB8AC3E}">
        <p14:creationId xmlns:p14="http://schemas.microsoft.com/office/powerpoint/2010/main" val="3512537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AC616C-59F6-A5A8-1901-35FE85209FDD}"/>
              </a:ext>
            </a:extLst>
          </p:cNvPr>
          <p:cNvSpPr>
            <a:spLocks noGrp="1"/>
          </p:cNvSpPr>
          <p:nvPr>
            <p:ph type="title"/>
          </p:nvPr>
        </p:nvSpPr>
        <p:spPr>
          <a:xfrm>
            <a:off x="311700" y="2150850"/>
            <a:ext cx="8520600" cy="841800"/>
          </a:xfrm>
        </p:spPr>
        <p:txBody>
          <a:bodyPr/>
          <a:lstStyle/>
          <a:p>
            <a:r>
              <a:rPr lang="pl-PL" err="1">
                <a:solidFill>
                  <a:schemeClr val="bg2">
                    <a:lumMod val="10000"/>
                    <a:lumOff val="90000"/>
                  </a:schemeClr>
                </a:solidFill>
              </a:rPr>
              <a:t>Thank</a:t>
            </a:r>
            <a:r>
              <a:rPr lang="pl-PL">
                <a:solidFill>
                  <a:schemeClr val="bg2">
                    <a:lumMod val="10000"/>
                    <a:lumOff val="90000"/>
                  </a:schemeClr>
                </a:solidFill>
              </a:rPr>
              <a:t> </a:t>
            </a:r>
            <a:r>
              <a:rPr lang="pl-PL" err="1">
                <a:solidFill>
                  <a:schemeClr val="bg2">
                    <a:lumMod val="10000"/>
                    <a:lumOff val="90000"/>
                  </a:schemeClr>
                </a:solidFill>
              </a:rPr>
              <a:t>you</a:t>
            </a:r>
            <a:r>
              <a:rPr lang="pl-PL">
                <a:solidFill>
                  <a:schemeClr val="bg2">
                    <a:lumMod val="10000"/>
                    <a:lumOff val="90000"/>
                  </a:schemeClr>
                </a:solidFill>
              </a:rPr>
              <a:t> for </a:t>
            </a:r>
            <a:r>
              <a:rPr lang="pl-PL" err="1">
                <a:solidFill>
                  <a:schemeClr val="bg2">
                    <a:lumMod val="10000"/>
                    <a:lumOff val="90000"/>
                  </a:schemeClr>
                </a:solidFill>
              </a:rPr>
              <a:t>your</a:t>
            </a:r>
            <a:r>
              <a:rPr lang="pl-PL">
                <a:solidFill>
                  <a:schemeClr val="bg2">
                    <a:lumMod val="10000"/>
                    <a:lumOff val="90000"/>
                  </a:schemeClr>
                </a:solidFill>
              </a:rPr>
              <a:t> </a:t>
            </a:r>
            <a:r>
              <a:rPr lang="pl-PL" err="1">
                <a:solidFill>
                  <a:schemeClr val="bg2">
                    <a:lumMod val="10000"/>
                    <a:lumOff val="90000"/>
                  </a:schemeClr>
                </a:solidFill>
              </a:rPr>
              <a:t>time</a:t>
            </a:r>
            <a:endParaRPr lang="en-US">
              <a:solidFill>
                <a:schemeClr val="bg2">
                  <a:lumMod val="10000"/>
                  <a:lumOff val="90000"/>
                </a:schemeClr>
              </a:solidFill>
            </a:endParaRPr>
          </a:p>
        </p:txBody>
      </p:sp>
    </p:spTree>
    <p:extLst>
      <p:ext uri="{BB962C8B-B14F-4D97-AF65-F5344CB8AC3E}">
        <p14:creationId xmlns:p14="http://schemas.microsoft.com/office/powerpoint/2010/main" val="3051845666"/>
      </p:ext>
    </p:extLst>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661</Words>
  <Application>Microsoft Office PowerPoint</Application>
  <PresentationFormat>Pokaz na ekranie (16:9)</PresentationFormat>
  <Paragraphs>50</Paragraphs>
  <Slides>12</Slides>
  <Notes>6</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12</vt:i4>
      </vt:variant>
    </vt:vector>
  </HeadingPairs>
  <TitlesOfParts>
    <vt:vector size="15" baseType="lpstr">
      <vt:lpstr>Arial</vt:lpstr>
      <vt:lpstr>Cambria Math</vt:lpstr>
      <vt:lpstr>Simple Dark</vt:lpstr>
      <vt:lpstr>Game Recommendations System</vt:lpstr>
      <vt:lpstr>Project inspiration</vt:lpstr>
      <vt:lpstr>Data and preprocessing</vt:lpstr>
      <vt:lpstr>Evaluation Methods for suggested models</vt:lpstr>
      <vt:lpstr>First recommendation model based on Random Walk</vt:lpstr>
      <vt:lpstr>Random Walk model</vt:lpstr>
      <vt:lpstr>Cleora embedding</vt:lpstr>
      <vt:lpstr>Cleora Architecture</vt:lpstr>
      <vt:lpstr>Random Walk upgraded model</vt:lpstr>
      <vt:lpstr>Comparison between naive random walk and cleora upgraded version</vt:lpstr>
      <vt:lpstr>Double level Cleora embedding</vt:lpstr>
      <vt:lpstr>Thank you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Miko K</dc:creator>
  <cp:lastModifiedBy>Mikołaj Komarnicki</cp:lastModifiedBy>
  <cp:revision>2</cp:revision>
  <dcterms:modified xsi:type="dcterms:W3CDTF">2025-01-28T00:47:24Z</dcterms:modified>
</cp:coreProperties>
</file>